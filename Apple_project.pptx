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3269C97-8D99-4CFB-8BD7-252D3BDA0FC0}">
  <a:tblStyle styleId="{83269C97-8D99-4CFB-8BD7-252D3BDA0FC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637adc80fd_5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637adc80fd_5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637adc80fd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637adc80fd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637adc80fd_5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637adc80fd_5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637adc80fd_5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637adc80fd_5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637adc80fd_5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637adc80fd_5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637adc80fd_5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637adc80fd_5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6380ce27b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6380ce27b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6380ce27b2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6380ce27b2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6380ce27b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6380ce27b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6380ce27b2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6380ce27b2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6380ce27b2_3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6380ce27b2_3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6380ce27b2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6380ce27b2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6380ce27b2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6380ce27b2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6380ce27b2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6380ce27b2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6380ce27b2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6380ce27b2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6380ce27b2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6380ce27b2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6380ce27b2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6380ce27b2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6380ce27b2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6380ce27b2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6380ce27b2_2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6380ce27b2_2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63977bec2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63977bec2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6380ce27b2_2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6380ce27b2_2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0.png"/><Relationship Id="rId4" Type="http://schemas.openxmlformats.org/officeDocument/2006/relationships/image" Target="../media/image8.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268983" y="3853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t>FORECASTING</a:t>
            </a:r>
            <a:endParaRPr b="1"/>
          </a:p>
        </p:txBody>
      </p:sp>
      <p:sp>
        <p:nvSpPr>
          <p:cNvPr id="55" name="Google Shape;55;p13"/>
          <p:cNvSpPr txBox="1"/>
          <p:nvPr>
            <p:ph idx="1" type="subTitle"/>
          </p:nvPr>
        </p:nvSpPr>
        <p:spPr>
          <a:xfrm>
            <a:off x="390125" y="32902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3900">
                <a:solidFill>
                  <a:schemeClr val="dk1"/>
                </a:solidFill>
                <a:latin typeface="Times New Roman"/>
                <a:ea typeface="Times New Roman"/>
                <a:cs typeface="Times New Roman"/>
                <a:sym typeface="Times New Roman"/>
              </a:rPr>
              <a:t>Apple Stock Prices Dataset</a:t>
            </a:r>
            <a:endParaRPr b="1" sz="39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5"/>
                                        </p:tgtEl>
                                        <p:attrNameLst>
                                          <p:attrName>style.visibility</p:attrName>
                                        </p:attrNameLst>
                                      </p:cBhvr>
                                      <p:to>
                                        <p:strVal val="visible"/>
                                      </p:to>
                                    </p:set>
                                    <p:animEffect filter="fade" transition="in">
                                      <p:cBhvr>
                                        <p:cTn dur="1000"/>
                                        <p:tgtEl>
                                          <p:spTgt spid="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4133">
                <a:highlight>
                  <a:schemeClr val="lt1"/>
                </a:highlight>
                <a:latin typeface="Times New Roman"/>
                <a:ea typeface="Times New Roman"/>
                <a:cs typeface="Times New Roman"/>
                <a:sym typeface="Times New Roman"/>
              </a:rPr>
              <a:t>Introduction</a:t>
            </a:r>
            <a:endParaRPr b="1" sz="4133">
              <a:highlight>
                <a:schemeClr val="lt1"/>
              </a:highlight>
              <a:latin typeface="Times New Roman"/>
              <a:ea typeface="Times New Roman"/>
              <a:cs typeface="Times New Roman"/>
              <a:sym typeface="Times New Roman"/>
            </a:endParaRPr>
          </a:p>
        </p:txBody>
      </p:sp>
      <p:sp>
        <p:nvSpPr>
          <p:cNvPr id="61" name="Google Shape;61;p14"/>
          <p:cNvSpPr txBox="1"/>
          <p:nvPr>
            <p:ph idx="1" type="body"/>
          </p:nvPr>
        </p:nvSpPr>
        <p:spPr>
          <a:xfrm>
            <a:off x="0" y="1400125"/>
            <a:ext cx="9144000" cy="3652800"/>
          </a:xfrm>
          <a:prstGeom prst="rect">
            <a:avLst/>
          </a:prstGeom>
        </p:spPr>
        <p:txBody>
          <a:bodyPr anchorCtr="0" anchor="t" bIns="91425" lIns="91425" spcFirstLastPara="1" rIns="91425" wrap="square" tIns="91425">
            <a:noAutofit/>
          </a:bodyPr>
          <a:lstStyle/>
          <a:p>
            <a:pPr indent="-381000" lvl="0" marL="457200" rtl="0" algn="l">
              <a:lnSpc>
                <a:spcPct val="100000"/>
              </a:lnSpc>
              <a:spcBef>
                <a:spcPts val="1000"/>
              </a:spcBef>
              <a:spcAft>
                <a:spcPts val="0"/>
              </a:spcAft>
              <a:buClr>
                <a:schemeClr val="dk1"/>
              </a:buClr>
              <a:buSzPts val="2400"/>
              <a:buFont typeface="Times New Roman"/>
              <a:buChar char="●"/>
            </a:pPr>
            <a:r>
              <a:rPr lang="en" sz="2400">
                <a:solidFill>
                  <a:schemeClr val="dk1"/>
                </a:solidFill>
                <a:highlight>
                  <a:schemeClr val="lt1"/>
                </a:highlight>
                <a:latin typeface="Times New Roman"/>
                <a:ea typeface="Times New Roman"/>
                <a:cs typeface="Times New Roman"/>
                <a:sym typeface="Times New Roman"/>
              </a:rPr>
              <a:t>To develop a forecasting model for the given financial data, consisting of variables: Date, Open, High, Low, Close, Adjusted Close prices, and  Volume.</a:t>
            </a:r>
            <a:endParaRPr sz="2400">
              <a:solidFill>
                <a:schemeClr val="dk1"/>
              </a:solidFill>
              <a:highlight>
                <a:schemeClr val="lt1"/>
              </a:highlight>
              <a:latin typeface="Times New Roman"/>
              <a:ea typeface="Times New Roman"/>
              <a:cs typeface="Times New Roman"/>
              <a:sym typeface="Times New Roman"/>
            </a:endParaRPr>
          </a:p>
          <a:p>
            <a:pPr indent="0" lvl="0" marL="457200" rtl="0" algn="l">
              <a:lnSpc>
                <a:spcPct val="100000"/>
              </a:lnSpc>
              <a:spcBef>
                <a:spcPts val="1000"/>
              </a:spcBef>
              <a:spcAft>
                <a:spcPts val="0"/>
              </a:spcAft>
              <a:buNone/>
            </a:pPr>
            <a:r>
              <a:t/>
            </a:r>
            <a:endParaRPr sz="2400">
              <a:solidFill>
                <a:schemeClr val="dk1"/>
              </a:solidFill>
              <a:highlight>
                <a:schemeClr val="lt1"/>
              </a:highlight>
              <a:latin typeface="Times New Roman"/>
              <a:ea typeface="Times New Roman"/>
              <a:cs typeface="Times New Roman"/>
              <a:sym typeface="Times New Roman"/>
            </a:endParaRPr>
          </a:p>
          <a:p>
            <a:pPr indent="-381000" lvl="0" marL="457200" rtl="0" algn="l">
              <a:lnSpc>
                <a:spcPct val="100000"/>
              </a:lnSpc>
              <a:spcBef>
                <a:spcPts val="1000"/>
              </a:spcBef>
              <a:spcAft>
                <a:spcPts val="0"/>
              </a:spcAft>
              <a:buClr>
                <a:schemeClr val="dk1"/>
              </a:buClr>
              <a:buSzPts val="2400"/>
              <a:buFont typeface="Times New Roman"/>
              <a:buChar char="●"/>
            </a:pPr>
            <a:r>
              <a:rPr lang="en" sz="2400">
                <a:solidFill>
                  <a:schemeClr val="dk1"/>
                </a:solidFill>
                <a:highlight>
                  <a:schemeClr val="lt1"/>
                </a:highlight>
                <a:latin typeface="Times New Roman"/>
                <a:ea typeface="Times New Roman"/>
                <a:cs typeface="Times New Roman"/>
                <a:sym typeface="Times New Roman"/>
              </a:rPr>
              <a:t>Our approach involves implementing time-series forecasting models such as:</a:t>
            </a:r>
            <a:endParaRPr sz="2400">
              <a:solidFill>
                <a:schemeClr val="dk1"/>
              </a:solidFill>
              <a:highlight>
                <a:schemeClr val="lt1"/>
              </a:highlight>
              <a:latin typeface="Times New Roman"/>
              <a:ea typeface="Times New Roman"/>
              <a:cs typeface="Times New Roman"/>
              <a:sym typeface="Times New Roman"/>
            </a:endParaRPr>
          </a:p>
          <a:p>
            <a:pPr indent="0" lvl="0" marL="0" rtl="0" algn="l">
              <a:lnSpc>
                <a:spcPct val="100000"/>
              </a:lnSpc>
              <a:spcBef>
                <a:spcPts val="1000"/>
              </a:spcBef>
              <a:spcAft>
                <a:spcPts val="0"/>
              </a:spcAft>
              <a:buNone/>
            </a:pPr>
            <a:r>
              <a:rPr lang="en" sz="2400">
                <a:solidFill>
                  <a:schemeClr val="dk1"/>
                </a:solidFill>
                <a:highlight>
                  <a:schemeClr val="lt1"/>
                </a:highlight>
                <a:latin typeface="Times New Roman"/>
                <a:ea typeface="Times New Roman"/>
                <a:cs typeface="Times New Roman"/>
                <a:sym typeface="Times New Roman"/>
              </a:rPr>
              <a:t>      ARIMA, SARIMA, FbProphet and LSTM.</a:t>
            </a:r>
            <a:endParaRPr sz="2400">
              <a:solidFill>
                <a:schemeClr val="dk1"/>
              </a:solidFill>
              <a:highlight>
                <a:schemeClr val="lt1"/>
              </a:highlight>
              <a:latin typeface="Times New Roman"/>
              <a:ea typeface="Times New Roman"/>
              <a:cs typeface="Times New Roman"/>
              <a:sym typeface="Times New Roman"/>
            </a:endParaRPr>
          </a:p>
          <a:p>
            <a:pPr indent="0" lvl="0" marL="0" rtl="0" algn="l">
              <a:lnSpc>
                <a:spcPct val="100000"/>
              </a:lnSpc>
              <a:spcBef>
                <a:spcPts val="1000"/>
              </a:spcBef>
              <a:spcAft>
                <a:spcPts val="0"/>
              </a:spcAft>
              <a:buNone/>
            </a:pPr>
            <a:r>
              <a:t/>
            </a:r>
            <a:endParaRPr sz="2400">
              <a:solidFill>
                <a:schemeClr val="dk1"/>
              </a:solidFill>
              <a:highlight>
                <a:schemeClr val="lt1"/>
              </a:highlight>
              <a:latin typeface="Times New Roman"/>
              <a:ea typeface="Times New Roman"/>
              <a:cs typeface="Times New Roman"/>
              <a:sym typeface="Times New Roman"/>
            </a:endParaRPr>
          </a:p>
          <a:p>
            <a:pPr indent="0" lvl="0" marL="0" rtl="0" algn="l">
              <a:spcBef>
                <a:spcPts val="0"/>
              </a:spcBef>
              <a:spcAft>
                <a:spcPts val="1200"/>
              </a:spcAft>
              <a:buNone/>
            </a:pPr>
            <a:r>
              <a:t/>
            </a:r>
            <a:endParaRPr sz="1400">
              <a:solidFill>
                <a:schemeClr val="dk1"/>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115600" y="108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720">
                <a:latin typeface="Times New Roman"/>
                <a:ea typeface="Times New Roman"/>
                <a:cs typeface="Times New Roman"/>
                <a:sym typeface="Times New Roman"/>
              </a:rPr>
              <a:t>STEPS</a:t>
            </a:r>
            <a:endParaRPr sz="3720">
              <a:latin typeface="Times New Roman"/>
              <a:ea typeface="Times New Roman"/>
              <a:cs typeface="Times New Roman"/>
              <a:sym typeface="Times New Roman"/>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descr="preencoded.png" id="68" name="Google Shape;68;p15"/>
          <p:cNvPicPr preferRelativeResize="0"/>
          <p:nvPr/>
        </p:nvPicPr>
        <p:blipFill rotWithShape="1">
          <a:blip r:embed="rId3">
            <a:alphaModFix/>
          </a:blip>
          <a:srcRect b="0" l="0" r="0" t="0"/>
          <a:stretch/>
        </p:blipFill>
        <p:spPr>
          <a:xfrm>
            <a:off x="331479" y="1010500"/>
            <a:ext cx="1906525" cy="479180"/>
          </a:xfrm>
          <a:prstGeom prst="rect">
            <a:avLst/>
          </a:prstGeom>
          <a:noFill/>
          <a:ln>
            <a:noFill/>
          </a:ln>
        </p:spPr>
      </p:pic>
      <p:pic>
        <p:nvPicPr>
          <p:cNvPr descr="preencoded.png" id="69" name="Google Shape;69;p15"/>
          <p:cNvPicPr preferRelativeResize="0"/>
          <p:nvPr/>
        </p:nvPicPr>
        <p:blipFill rotWithShape="1">
          <a:blip r:embed="rId4">
            <a:alphaModFix/>
          </a:blip>
          <a:srcRect b="0" l="0" r="0" t="0"/>
          <a:stretch/>
        </p:blipFill>
        <p:spPr>
          <a:xfrm>
            <a:off x="3300175" y="1021675"/>
            <a:ext cx="1906525" cy="479180"/>
          </a:xfrm>
          <a:prstGeom prst="rect">
            <a:avLst/>
          </a:prstGeom>
          <a:noFill/>
          <a:ln>
            <a:noFill/>
          </a:ln>
        </p:spPr>
      </p:pic>
      <p:pic>
        <p:nvPicPr>
          <p:cNvPr descr="preencoded.png" id="70" name="Google Shape;70;p15"/>
          <p:cNvPicPr preferRelativeResize="0"/>
          <p:nvPr/>
        </p:nvPicPr>
        <p:blipFill rotWithShape="1">
          <a:blip r:embed="rId5">
            <a:alphaModFix/>
          </a:blip>
          <a:srcRect b="0" l="0" r="0" t="0"/>
          <a:stretch/>
        </p:blipFill>
        <p:spPr>
          <a:xfrm>
            <a:off x="6261325" y="1010500"/>
            <a:ext cx="1990875" cy="479175"/>
          </a:xfrm>
          <a:prstGeom prst="rect">
            <a:avLst/>
          </a:prstGeom>
          <a:noFill/>
          <a:ln>
            <a:noFill/>
          </a:ln>
        </p:spPr>
      </p:pic>
      <p:pic>
        <p:nvPicPr>
          <p:cNvPr descr="preencoded.png" id="71" name="Google Shape;71;p15"/>
          <p:cNvPicPr preferRelativeResize="0"/>
          <p:nvPr/>
        </p:nvPicPr>
        <p:blipFill rotWithShape="1">
          <a:blip r:embed="rId6">
            <a:alphaModFix/>
          </a:blip>
          <a:srcRect b="0" l="0" r="0" t="0"/>
          <a:stretch/>
        </p:blipFill>
        <p:spPr>
          <a:xfrm>
            <a:off x="295454" y="3026025"/>
            <a:ext cx="1906525" cy="479180"/>
          </a:xfrm>
          <a:prstGeom prst="rect">
            <a:avLst/>
          </a:prstGeom>
          <a:noFill/>
          <a:ln>
            <a:noFill/>
          </a:ln>
        </p:spPr>
      </p:pic>
      <p:pic>
        <p:nvPicPr>
          <p:cNvPr descr="preencoded.png" id="72" name="Google Shape;72;p15"/>
          <p:cNvPicPr preferRelativeResize="0"/>
          <p:nvPr/>
        </p:nvPicPr>
        <p:blipFill rotWithShape="1">
          <a:blip r:embed="rId7">
            <a:alphaModFix/>
          </a:blip>
          <a:srcRect b="0" l="0" r="0" t="-19517"/>
          <a:stretch/>
        </p:blipFill>
        <p:spPr>
          <a:xfrm>
            <a:off x="3256600" y="2905875"/>
            <a:ext cx="2026300" cy="572700"/>
          </a:xfrm>
          <a:prstGeom prst="rect">
            <a:avLst/>
          </a:prstGeom>
          <a:noFill/>
          <a:ln>
            <a:noFill/>
          </a:ln>
        </p:spPr>
      </p:pic>
      <p:sp>
        <p:nvSpPr>
          <p:cNvPr id="73" name="Google Shape;73;p15"/>
          <p:cNvSpPr txBox="1"/>
          <p:nvPr/>
        </p:nvSpPr>
        <p:spPr>
          <a:xfrm>
            <a:off x="255275" y="1587825"/>
            <a:ext cx="2521800" cy="12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Times New Roman"/>
                <a:ea typeface="Times New Roman"/>
                <a:cs typeface="Times New Roman"/>
                <a:sym typeface="Times New Roman"/>
              </a:rPr>
              <a:t>Collection of data: </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500">
                <a:solidFill>
                  <a:schemeClr val="dk1"/>
                </a:solidFill>
                <a:latin typeface="Times New Roman"/>
                <a:ea typeface="Times New Roman"/>
                <a:cs typeface="Times New Roman"/>
                <a:sym typeface="Times New Roman"/>
              </a:rPr>
              <a:t>Apple data set</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500">
                <a:solidFill>
                  <a:schemeClr val="dk1"/>
                </a:solidFill>
                <a:latin typeface="Times New Roman"/>
                <a:ea typeface="Times New Roman"/>
                <a:cs typeface="Times New Roman"/>
                <a:sym typeface="Times New Roman"/>
              </a:rPr>
              <a:t>Source : Kaggle.com</a:t>
            </a:r>
            <a:endParaRPr sz="1500">
              <a:solidFill>
                <a:schemeClr val="dk1"/>
              </a:solidFill>
              <a:latin typeface="Times New Roman"/>
              <a:ea typeface="Times New Roman"/>
              <a:cs typeface="Times New Roman"/>
              <a:sym typeface="Times New Roman"/>
            </a:endParaRPr>
          </a:p>
          <a:p>
            <a:pPr indent="0" lvl="0" marL="0" rtl="0" algn="l">
              <a:lnSpc>
                <a:spcPct val="160028"/>
              </a:lnSpc>
              <a:spcBef>
                <a:spcPts val="0"/>
              </a:spcBef>
              <a:spcAft>
                <a:spcPts val="0"/>
              </a:spcAft>
              <a:buNone/>
            </a:pPr>
            <a:r>
              <a:rPr lang="en" sz="1416">
                <a:solidFill>
                  <a:schemeClr val="dk1"/>
                </a:solidFill>
                <a:latin typeface="Times New Roman"/>
                <a:ea typeface="Times New Roman"/>
                <a:cs typeface="Times New Roman"/>
                <a:sym typeface="Times New Roman"/>
              </a:rPr>
              <a:t>Data set - 5285, csv</a:t>
            </a:r>
            <a:endParaRPr sz="1500">
              <a:solidFill>
                <a:schemeClr val="dk1"/>
              </a:solidFill>
              <a:latin typeface="Times New Roman"/>
              <a:ea typeface="Times New Roman"/>
              <a:cs typeface="Times New Roman"/>
              <a:sym typeface="Times New Roman"/>
            </a:endParaRPr>
          </a:p>
        </p:txBody>
      </p:sp>
      <p:sp>
        <p:nvSpPr>
          <p:cNvPr id="74" name="Google Shape;74;p15"/>
          <p:cNvSpPr txBox="1"/>
          <p:nvPr/>
        </p:nvSpPr>
        <p:spPr>
          <a:xfrm>
            <a:off x="3223975" y="1528350"/>
            <a:ext cx="2961300" cy="186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Times New Roman"/>
                <a:ea typeface="Times New Roman"/>
                <a:cs typeface="Times New Roman"/>
                <a:sym typeface="Times New Roman"/>
              </a:rPr>
              <a:t>EDA:</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500">
                <a:solidFill>
                  <a:schemeClr val="dk1"/>
                </a:solidFill>
                <a:latin typeface="Times New Roman"/>
                <a:ea typeface="Times New Roman"/>
                <a:cs typeface="Times New Roman"/>
                <a:sym typeface="Times New Roman"/>
              </a:rPr>
              <a:t>Checking for duplication</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500">
                <a:solidFill>
                  <a:schemeClr val="dk1"/>
                </a:solidFill>
                <a:latin typeface="Times New Roman"/>
                <a:ea typeface="Times New Roman"/>
                <a:cs typeface="Times New Roman"/>
                <a:sym typeface="Times New Roman"/>
              </a:rPr>
              <a:t>Missing value detection</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500">
                <a:solidFill>
                  <a:schemeClr val="dk1"/>
                </a:solidFill>
                <a:latin typeface="Times New Roman"/>
                <a:ea typeface="Times New Roman"/>
                <a:cs typeface="Times New Roman"/>
                <a:sym typeface="Times New Roman"/>
              </a:rPr>
              <a:t>Data reduction</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500">
                <a:solidFill>
                  <a:schemeClr val="dk1"/>
                </a:solidFill>
                <a:latin typeface="Times New Roman"/>
                <a:ea typeface="Times New Roman"/>
                <a:cs typeface="Times New Roman"/>
                <a:sym typeface="Times New Roman"/>
              </a:rPr>
              <a:t>Data cleaning</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lt2"/>
              </a:solidFill>
            </a:endParaRPr>
          </a:p>
        </p:txBody>
      </p:sp>
      <p:sp>
        <p:nvSpPr>
          <p:cNvPr id="75" name="Google Shape;75;p15"/>
          <p:cNvSpPr txBox="1"/>
          <p:nvPr/>
        </p:nvSpPr>
        <p:spPr>
          <a:xfrm>
            <a:off x="6169575" y="1517650"/>
            <a:ext cx="1906500" cy="105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76" name="Google Shape;76;p15"/>
          <p:cNvSpPr txBox="1"/>
          <p:nvPr/>
        </p:nvSpPr>
        <p:spPr>
          <a:xfrm>
            <a:off x="6261325" y="1502400"/>
            <a:ext cx="1906500" cy="105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Times New Roman"/>
                <a:ea typeface="Times New Roman"/>
                <a:cs typeface="Times New Roman"/>
                <a:sym typeface="Times New Roman"/>
              </a:rPr>
              <a:t>Model Building:</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600">
                <a:solidFill>
                  <a:schemeClr val="dk1"/>
                </a:solidFill>
                <a:latin typeface="Times New Roman"/>
                <a:ea typeface="Times New Roman"/>
                <a:cs typeface="Times New Roman"/>
                <a:sym typeface="Times New Roman"/>
              </a:rPr>
              <a:t>ARIMA</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600">
                <a:solidFill>
                  <a:schemeClr val="dk1"/>
                </a:solidFill>
                <a:latin typeface="Times New Roman"/>
                <a:ea typeface="Times New Roman"/>
                <a:cs typeface="Times New Roman"/>
                <a:sym typeface="Times New Roman"/>
              </a:rPr>
              <a:t>SARIMA</a:t>
            </a:r>
            <a:br>
              <a:rPr lang="en" sz="1600">
                <a:solidFill>
                  <a:schemeClr val="dk1"/>
                </a:solidFill>
                <a:latin typeface="Times New Roman"/>
                <a:ea typeface="Times New Roman"/>
                <a:cs typeface="Times New Roman"/>
                <a:sym typeface="Times New Roman"/>
              </a:rPr>
            </a:br>
            <a:r>
              <a:rPr lang="en" sz="1600">
                <a:solidFill>
                  <a:schemeClr val="dk1"/>
                </a:solidFill>
                <a:latin typeface="Times New Roman"/>
                <a:ea typeface="Times New Roman"/>
                <a:cs typeface="Times New Roman"/>
                <a:sym typeface="Times New Roman"/>
              </a:rPr>
              <a:t>LSTM</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600">
                <a:solidFill>
                  <a:schemeClr val="dk1"/>
                </a:solidFill>
                <a:latin typeface="Times New Roman"/>
                <a:ea typeface="Times New Roman"/>
                <a:cs typeface="Times New Roman"/>
                <a:sym typeface="Times New Roman"/>
              </a:rPr>
              <a:t>FP prophet</a:t>
            </a:r>
            <a:endParaRPr sz="1600">
              <a:solidFill>
                <a:schemeClr val="dk1"/>
              </a:solidFill>
              <a:latin typeface="Times New Roman"/>
              <a:ea typeface="Times New Roman"/>
              <a:cs typeface="Times New Roman"/>
              <a:sym typeface="Times New Roman"/>
            </a:endParaRPr>
          </a:p>
        </p:txBody>
      </p:sp>
      <p:sp>
        <p:nvSpPr>
          <p:cNvPr id="77" name="Google Shape;77;p15"/>
          <p:cNvSpPr txBox="1"/>
          <p:nvPr/>
        </p:nvSpPr>
        <p:spPr>
          <a:xfrm>
            <a:off x="298275" y="3596900"/>
            <a:ext cx="1905000" cy="100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Times New Roman"/>
                <a:ea typeface="Times New Roman"/>
                <a:cs typeface="Times New Roman"/>
                <a:sym typeface="Times New Roman"/>
              </a:rPr>
              <a:t>Model Evaluation:</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500">
                <a:solidFill>
                  <a:schemeClr val="dk1"/>
                </a:solidFill>
                <a:latin typeface="Times New Roman"/>
                <a:ea typeface="Times New Roman"/>
                <a:cs typeface="Times New Roman"/>
                <a:sym typeface="Times New Roman"/>
              </a:rPr>
              <a:t>RMSE</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500">
                <a:solidFill>
                  <a:schemeClr val="dk1"/>
                </a:solidFill>
                <a:latin typeface="Times New Roman"/>
                <a:ea typeface="Times New Roman"/>
                <a:cs typeface="Times New Roman"/>
                <a:sym typeface="Times New Roman"/>
              </a:rPr>
              <a:t>MSE</a:t>
            </a:r>
            <a:br>
              <a:rPr lang="en" sz="1500">
                <a:solidFill>
                  <a:schemeClr val="dk1"/>
                </a:solidFill>
                <a:latin typeface="Times New Roman"/>
                <a:ea typeface="Times New Roman"/>
                <a:cs typeface="Times New Roman"/>
                <a:sym typeface="Times New Roman"/>
              </a:rPr>
            </a:br>
            <a:r>
              <a:rPr lang="en" sz="1500">
                <a:solidFill>
                  <a:schemeClr val="dk1"/>
                </a:solidFill>
                <a:latin typeface="Times New Roman"/>
                <a:ea typeface="Times New Roman"/>
                <a:cs typeface="Times New Roman"/>
                <a:sym typeface="Times New Roman"/>
              </a:rPr>
              <a:t>MAPE</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500">
              <a:solidFill>
                <a:schemeClr val="dk1"/>
              </a:solidFill>
              <a:latin typeface="Times New Roman"/>
              <a:ea typeface="Times New Roman"/>
              <a:cs typeface="Times New Roman"/>
              <a:sym typeface="Times New Roman"/>
            </a:endParaRPr>
          </a:p>
        </p:txBody>
      </p:sp>
      <p:sp>
        <p:nvSpPr>
          <p:cNvPr id="78" name="Google Shape;78;p15"/>
          <p:cNvSpPr txBox="1"/>
          <p:nvPr/>
        </p:nvSpPr>
        <p:spPr>
          <a:xfrm>
            <a:off x="3233650" y="3603075"/>
            <a:ext cx="1990800" cy="105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Times New Roman"/>
                <a:ea typeface="Times New Roman"/>
                <a:cs typeface="Times New Roman"/>
                <a:sym typeface="Times New Roman"/>
              </a:rPr>
              <a:t>Deployment:</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600">
                <a:solidFill>
                  <a:schemeClr val="dk1"/>
                </a:solidFill>
                <a:latin typeface="Times New Roman"/>
                <a:ea typeface="Times New Roman"/>
                <a:cs typeface="Times New Roman"/>
                <a:sym typeface="Times New Roman"/>
              </a:rPr>
              <a:t> Flask</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61250" y="15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Exploratory Data Analysis (EDA)</a:t>
            </a:r>
            <a:endParaRPr>
              <a:latin typeface="Times New Roman"/>
              <a:ea typeface="Times New Roman"/>
              <a:cs typeface="Times New Roman"/>
              <a:sym typeface="Times New Roman"/>
            </a:endParaRPr>
          </a:p>
        </p:txBody>
      </p:sp>
      <p:sp>
        <p:nvSpPr>
          <p:cNvPr id="84" name="Google Shape;84;p16"/>
          <p:cNvSpPr txBox="1"/>
          <p:nvPr>
            <p:ph idx="1" type="body"/>
          </p:nvPr>
        </p:nvSpPr>
        <p:spPr>
          <a:xfrm>
            <a:off x="245026" y="875984"/>
            <a:ext cx="8520600" cy="2369700"/>
          </a:xfrm>
          <a:prstGeom prst="rect">
            <a:avLst/>
          </a:prstGeom>
        </p:spPr>
        <p:txBody>
          <a:bodyPr anchorCtr="0" anchor="t" bIns="91425" lIns="91425" spcFirstLastPara="1" rIns="91425" wrap="square" tIns="91425">
            <a:normAutofit/>
          </a:bodyPr>
          <a:lstStyle/>
          <a:p>
            <a:pPr indent="-342900" lvl="0" marL="457200" rtl="0" algn="l">
              <a:lnSpc>
                <a:spcPct val="100000"/>
              </a:lnSpc>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No null values were detected.</a:t>
            </a:r>
            <a:endParaRPr>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No duplicates were found.</a:t>
            </a:r>
            <a:endParaRPr>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Outliers Detection is done.</a:t>
            </a:r>
            <a:endParaRPr>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pic>
        <p:nvPicPr>
          <p:cNvPr id="85" name="Google Shape;85;p16"/>
          <p:cNvPicPr preferRelativeResize="0"/>
          <p:nvPr/>
        </p:nvPicPr>
        <p:blipFill rotWithShape="1">
          <a:blip r:embed="rId3">
            <a:alphaModFix/>
          </a:blip>
          <a:srcRect b="2771" l="0" r="0" t="0"/>
          <a:stretch/>
        </p:blipFill>
        <p:spPr>
          <a:xfrm>
            <a:off x="664875" y="1823575"/>
            <a:ext cx="7916975" cy="2835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10085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Dealing with outliers</a:t>
            </a:r>
            <a:endParaRPr b="1">
              <a:latin typeface="Times New Roman"/>
              <a:ea typeface="Times New Roman"/>
              <a:cs typeface="Times New Roman"/>
              <a:sym typeface="Times New Roman"/>
            </a:endParaRPr>
          </a:p>
        </p:txBody>
      </p:sp>
      <p:sp>
        <p:nvSpPr>
          <p:cNvPr id="91" name="Google Shape;91;p17"/>
          <p:cNvSpPr txBox="1"/>
          <p:nvPr>
            <p:ph idx="1" type="body"/>
          </p:nvPr>
        </p:nvSpPr>
        <p:spPr>
          <a:xfrm>
            <a:off x="145675" y="542875"/>
            <a:ext cx="50538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Outliers were detected in all the variables.</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The most </a:t>
            </a:r>
            <a:r>
              <a:rPr lang="en" sz="1600">
                <a:solidFill>
                  <a:schemeClr val="dk1"/>
                </a:solidFill>
                <a:latin typeface="Times New Roman"/>
                <a:ea typeface="Times New Roman"/>
                <a:cs typeface="Times New Roman"/>
                <a:sym typeface="Times New Roman"/>
              </a:rPr>
              <a:t>relevant variable to build our forecasting model is the ‘ Close’ variable.</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Hence we replace the outliers in the ‘Close’ column with the maximum value in the column.</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600">
              <a:solidFill>
                <a:schemeClr val="dk1"/>
              </a:solidFill>
              <a:latin typeface="Times New Roman"/>
              <a:ea typeface="Times New Roman"/>
              <a:cs typeface="Times New Roman"/>
              <a:sym typeface="Times New Roman"/>
            </a:endParaRPr>
          </a:p>
        </p:txBody>
      </p:sp>
      <p:pic>
        <p:nvPicPr>
          <p:cNvPr id="92" name="Google Shape;92;p17"/>
          <p:cNvPicPr preferRelativeResize="0"/>
          <p:nvPr/>
        </p:nvPicPr>
        <p:blipFill>
          <a:blip r:embed="rId3">
            <a:alphaModFix/>
          </a:blip>
          <a:stretch>
            <a:fillRect/>
          </a:stretch>
        </p:blipFill>
        <p:spPr>
          <a:xfrm>
            <a:off x="5636600" y="302575"/>
            <a:ext cx="3081574" cy="2196325"/>
          </a:xfrm>
          <a:prstGeom prst="rect">
            <a:avLst/>
          </a:prstGeom>
          <a:noFill/>
          <a:ln>
            <a:noFill/>
          </a:ln>
        </p:spPr>
      </p:pic>
      <p:pic>
        <p:nvPicPr>
          <p:cNvPr id="93" name="Google Shape;93;p17"/>
          <p:cNvPicPr preferRelativeResize="0"/>
          <p:nvPr/>
        </p:nvPicPr>
        <p:blipFill>
          <a:blip r:embed="rId4">
            <a:alphaModFix/>
          </a:blip>
          <a:stretch>
            <a:fillRect/>
          </a:stretch>
        </p:blipFill>
        <p:spPr>
          <a:xfrm>
            <a:off x="4572000" y="2752525"/>
            <a:ext cx="4616801" cy="2125625"/>
          </a:xfrm>
          <a:prstGeom prst="rect">
            <a:avLst/>
          </a:prstGeom>
          <a:noFill/>
          <a:ln>
            <a:noFill/>
          </a:ln>
        </p:spPr>
      </p:pic>
      <p:pic>
        <p:nvPicPr>
          <p:cNvPr id="94" name="Google Shape;94;p17"/>
          <p:cNvPicPr preferRelativeResize="0"/>
          <p:nvPr/>
        </p:nvPicPr>
        <p:blipFill>
          <a:blip r:embed="rId5">
            <a:alphaModFix/>
          </a:blip>
          <a:stretch>
            <a:fillRect/>
          </a:stretch>
        </p:blipFill>
        <p:spPr>
          <a:xfrm>
            <a:off x="0" y="2752525"/>
            <a:ext cx="4325449" cy="2125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83100" y="64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820">
                <a:latin typeface="Times New Roman"/>
                <a:ea typeface="Times New Roman"/>
                <a:cs typeface="Times New Roman"/>
                <a:sym typeface="Times New Roman"/>
              </a:rPr>
              <a:t>DATA VISUALISATIONS</a:t>
            </a:r>
            <a:endParaRPr sz="2820">
              <a:latin typeface="Times New Roman"/>
              <a:ea typeface="Times New Roman"/>
              <a:cs typeface="Times New Roman"/>
              <a:sym typeface="Times New Roman"/>
            </a:endParaRPr>
          </a:p>
        </p:txBody>
      </p:sp>
      <p:sp>
        <p:nvSpPr>
          <p:cNvPr id="100" name="Google Shape;100;p18"/>
          <p:cNvSpPr txBox="1"/>
          <p:nvPr>
            <p:ph idx="1" type="body"/>
          </p:nvPr>
        </p:nvSpPr>
        <p:spPr>
          <a:xfrm>
            <a:off x="367725" y="1146100"/>
            <a:ext cx="6685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1" name="Google Shape;101;p18"/>
          <p:cNvPicPr preferRelativeResize="0"/>
          <p:nvPr/>
        </p:nvPicPr>
        <p:blipFill>
          <a:blip r:embed="rId3">
            <a:alphaModFix/>
          </a:blip>
          <a:stretch>
            <a:fillRect/>
          </a:stretch>
        </p:blipFill>
        <p:spPr>
          <a:xfrm>
            <a:off x="283600" y="964200"/>
            <a:ext cx="3573750" cy="1836112"/>
          </a:xfrm>
          <a:prstGeom prst="rect">
            <a:avLst/>
          </a:prstGeom>
          <a:noFill/>
          <a:ln>
            <a:noFill/>
          </a:ln>
        </p:spPr>
      </p:pic>
      <p:pic>
        <p:nvPicPr>
          <p:cNvPr id="102" name="Google Shape;102;p18"/>
          <p:cNvPicPr preferRelativeResize="0"/>
          <p:nvPr/>
        </p:nvPicPr>
        <p:blipFill>
          <a:blip r:embed="rId4">
            <a:alphaModFix/>
          </a:blip>
          <a:stretch>
            <a:fillRect/>
          </a:stretch>
        </p:blipFill>
        <p:spPr>
          <a:xfrm>
            <a:off x="4392725" y="893914"/>
            <a:ext cx="4482374" cy="1938175"/>
          </a:xfrm>
          <a:prstGeom prst="rect">
            <a:avLst/>
          </a:prstGeom>
          <a:noFill/>
          <a:ln>
            <a:noFill/>
          </a:ln>
        </p:spPr>
      </p:pic>
      <p:pic>
        <p:nvPicPr>
          <p:cNvPr id="103" name="Google Shape;103;p18"/>
          <p:cNvPicPr preferRelativeResize="0"/>
          <p:nvPr/>
        </p:nvPicPr>
        <p:blipFill>
          <a:blip r:embed="rId5">
            <a:alphaModFix/>
          </a:blip>
          <a:stretch>
            <a:fillRect/>
          </a:stretch>
        </p:blipFill>
        <p:spPr>
          <a:xfrm>
            <a:off x="1639800" y="2988425"/>
            <a:ext cx="4997824" cy="2072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nvSpPr>
        <p:spPr>
          <a:xfrm>
            <a:off x="205450" y="276400"/>
            <a:ext cx="8628600" cy="70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Times New Roman"/>
                <a:ea typeface="Times New Roman"/>
                <a:cs typeface="Times New Roman"/>
                <a:sym typeface="Times New Roman"/>
              </a:rPr>
              <a:t>ACF and PACF plots</a:t>
            </a:r>
            <a:endParaRPr sz="3000">
              <a:solidFill>
                <a:schemeClr val="dk1"/>
              </a:solidFill>
              <a:latin typeface="Times New Roman"/>
              <a:ea typeface="Times New Roman"/>
              <a:cs typeface="Times New Roman"/>
              <a:sym typeface="Times New Roman"/>
            </a:endParaRPr>
          </a:p>
        </p:txBody>
      </p:sp>
      <p:pic>
        <p:nvPicPr>
          <p:cNvPr id="109" name="Google Shape;109;p19"/>
          <p:cNvPicPr preferRelativeResize="0"/>
          <p:nvPr/>
        </p:nvPicPr>
        <p:blipFill>
          <a:blip r:embed="rId3">
            <a:alphaModFix/>
          </a:blip>
          <a:stretch>
            <a:fillRect/>
          </a:stretch>
        </p:blipFill>
        <p:spPr>
          <a:xfrm>
            <a:off x="141175" y="1235550"/>
            <a:ext cx="4344925" cy="3856400"/>
          </a:xfrm>
          <a:prstGeom prst="rect">
            <a:avLst/>
          </a:prstGeom>
          <a:noFill/>
          <a:ln>
            <a:noFill/>
          </a:ln>
        </p:spPr>
      </p:pic>
      <p:pic>
        <p:nvPicPr>
          <p:cNvPr id="110" name="Google Shape;110;p19"/>
          <p:cNvPicPr preferRelativeResize="0"/>
          <p:nvPr/>
        </p:nvPicPr>
        <p:blipFill>
          <a:blip r:embed="rId4">
            <a:alphaModFix/>
          </a:blip>
          <a:stretch>
            <a:fillRect/>
          </a:stretch>
        </p:blipFill>
        <p:spPr>
          <a:xfrm>
            <a:off x="4660925" y="1235550"/>
            <a:ext cx="4353100" cy="3856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type="title"/>
          </p:nvPr>
        </p:nvSpPr>
        <p:spPr>
          <a:xfrm>
            <a:off x="311700" y="1267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920">
                <a:latin typeface="Times New Roman"/>
                <a:ea typeface="Times New Roman"/>
                <a:cs typeface="Times New Roman"/>
                <a:sym typeface="Times New Roman"/>
              </a:rPr>
              <a:t>SEASONAL DECOMPOSITION</a:t>
            </a:r>
            <a:endParaRPr sz="2920">
              <a:latin typeface="Times New Roman"/>
              <a:ea typeface="Times New Roman"/>
              <a:cs typeface="Times New Roman"/>
              <a:sym typeface="Times New Roman"/>
            </a:endParaRPr>
          </a:p>
        </p:txBody>
      </p:sp>
      <p:sp>
        <p:nvSpPr>
          <p:cNvPr id="116" name="Google Shape;11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7" name="Google Shape;117;p20"/>
          <p:cNvPicPr preferRelativeResize="0"/>
          <p:nvPr/>
        </p:nvPicPr>
        <p:blipFill>
          <a:blip r:embed="rId3">
            <a:alphaModFix/>
          </a:blip>
          <a:stretch>
            <a:fillRect/>
          </a:stretch>
        </p:blipFill>
        <p:spPr>
          <a:xfrm>
            <a:off x="234050" y="890125"/>
            <a:ext cx="8598250" cy="3570525"/>
          </a:xfrm>
          <a:prstGeom prst="rect">
            <a:avLst/>
          </a:prstGeom>
          <a:noFill/>
          <a:ln>
            <a:noFill/>
          </a:ln>
        </p:spPr>
      </p:pic>
      <p:sp>
        <p:nvSpPr>
          <p:cNvPr id="118" name="Google Shape;118;p20"/>
          <p:cNvSpPr txBox="1"/>
          <p:nvPr/>
        </p:nvSpPr>
        <p:spPr>
          <a:xfrm>
            <a:off x="522000" y="4323900"/>
            <a:ext cx="9331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As we see , the time series has seasonality.</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255675" y="461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020">
                <a:latin typeface="Times New Roman"/>
                <a:ea typeface="Times New Roman"/>
                <a:cs typeface="Times New Roman"/>
                <a:sym typeface="Times New Roman"/>
              </a:rPr>
              <a:t>MODEL BUILDING</a:t>
            </a:r>
            <a:endParaRPr b="1" sz="3020">
              <a:latin typeface="Times New Roman"/>
              <a:ea typeface="Times New Roman"/>
              <a:cs typeface="Times New Roman"/>
              <a:sym typeface="Times New Roman"/>
            </a:endParaRPr>
          </a:p>
        </p:txBody>
      </p:sp>
      <p:sp>
        <p:nvSpPr>
          <p:cNvPr id="124" name="Google Shape;124;p21"/>
          <p:cNvSpPr txBox="1"/>
          <p:nvPr>
            <p:ph idx="1" type="body"/>
          </p:nvPr>
        </p:nvSpPr>
        <p:spPr>
          <a:xfrm>
            <a:off x="311700" y="771200"/>
            <a:ext cx="8520600" cy="3797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25000" lnSpcReduction="20000"/>
          </a:bodyPr>
          <a:lstStyle/>
          <a:p>
            <a:pPr indent="0" lvl="0" marL="0" rtl="0" algn="ctr">
              <a:spcBef>
                <a:spcPts val="0"/>
              </a:spcBef>
              <a:spcAft>
                <a:spcPts val="0"/>
              </a:spcAft>
              <a:buNone/>
            </a:pPr>
            <a:r>
              <a:rPr b="1" lang="en" sz="11367">
                <a:solidFill>
                  <a:schemeClr val="dk1"/>
                </a:solidFill>
                <a:latin typeface="Times New Roman"/>
                <a:ea typeface="Times New Roman"/>
                <a:cs typeface="Times New Roman"/>
                <a:sym typeface="Times New Roman"/>
              </a:rPr>
              <a:t>Autoregressive</a:t>
            </a:r>
            <a:r>
              <a:rPr b="1" lang="en" sz="11367">
                <a:solidFill>
                  <a:schemeClr val="dk1"/>
                </a:solidFill>
                <a:latin typeface="Times New Roman"/>
                <a:ea typeface="Times New Roman"/>
                <a:cs typeface="Times New Roman"/>
                <a:sym typeface="Times New Roman"/>
              </a:rPr>
              <a:t> Integrated Moving Average ( ARIMA)</a:t>
            </a:r>
            <a:endParaRPr b="1" sz="11367">
              <a:solidFill>
                <a:schemeClr val="dk1"/>
              </a:solidFill>
              <a:latin typeface="Times New Roman"/>
              <a:ea typeface="Times New Roman"/>
              <a:cs typeface="Times New Roman"/>
              <a:sym typeface="Times New Roman"/>
            </a:endParaRPr>
          </a:p>
          <a:p>
            <a:pPr indent="-354012" lvl="0" marL="457200" rtl="0" algn="l">
              <a:lnSpc>
                <a:spcPct val="100000"/>
              </a:lnSpc>
              <a:spcBef>
                <a:spcPts val="1200"/>
              </a:spcBef>
              <a:spcAft>
                <a:spcPts val="0"/>
              </a:spcAft>
              <a:buClr>
                <a:schemeClr val="dk1"/>
              </a:buClr>
              <a:buSzPct val="100000"/>
              <a:buFont typeface="Times New Roman"/>
              <a:buChar char="●"/>
            </a:pPr>
            <a:r>
              <a:rPr lang="en" sz="7900">
                <a:solidFill>
                  <a:schemeClr val="dk1"/>
                </a:solidFill>
                <a:latin typeface="Times New Roman"/>
                <a:ea typeface="Times New Roman"/>
                <a:cs typeface="Times New Roman"/>
                <a:sym typeface="Times New Roman"/>
              </a:rPr>
              <a:t>The time series dataset is non- stationary( Mean and Variance are a function of time hence not constant.).</a:t>
            </a:r>
            <a:endParaRPr sz="7900">
              <a:solidFill>
                <a:schemeClr val="dk1"/>
              </a:solidFill>
              <a:latin typeface="Times New Roman"/>
              <a:ea typeface="Times New Roman"/>
              <a:cs typeface="Times New Roman"/>
              <a:sym typeface="Times New Roman"/>
            </a:endParaRPr>
          </a:p>
          <a:p>
            <a:pPr indent="-354012" lvl="0" marL="457200" rtl="0" algn="l">
              <a:lnSpc>
                <a:spcPct val="100000"/>
              </a:lnSpc>
              <a:spcBef>
                <a:spcPts val="0"/>
              </a:spcBef>
              <a:spcAft>
                <a:spcPts val="0"/>
              </a:spcAft>
              <a:buClr>
                <a:schemeClr val="dk1"/>
              </a:buClr>
              <a:buSzPct val="100000"/>
              <a:buFont typeface="Times New Roman"/>
              <a:buChar char="●"/>
            </a:pPr>
            <a:r>
              <a:rPr lang="en" sz="7900">
                <a:solidFill>
                  <a:schemeClr val="dk1"/>
                </a:solidFill>
                <a:latin typeface="Times New Roman"/>
                <a:ea typeface="Times New Roman"/>
                <a:cs typeface="Times New Roman"/>
                <a:sym typeface="Times New Roman"/>
              </a:rPr>
              <a:t>By performing first Order </a:t>
            </a:r>
            <a:r>
              <a:rPr lang="en" sz="7900">
                <a:solidFill>
                  <a:schemeClr val="dk1"/>
                </a:solidFill>
                <a:latin typeface="Times New Roman"/>
                <a:ea typeface="Times New Roman"/>
                <a:cs typeface="Times New Roman"/>
                <a:sym typeface="Times New Roman"/>
              </a:rPr>
              <a:t>Differentiation</a:t>
            </a:r>
            <a:r>
              <a:rPr lang="en" sz="7900">
                <a:solidFill>
                  <a:schemeClr val="dk1"/>
                </a:solidFill>
                <a:latin typeface="Times New Roman"/>
                <a:ea typeface="Times New Roman"/>
                <a:cs typeface="Times New Roman"/>
                <a:sym typeface="Times New Roman"/>
              </a:rPr>
              <a:t> the dataset becomes Stationary ( </a:t>
            </a:r>
            <a:r>
              <a:rPr lang="en" sz="7900">
                <a:solidFill>
                  <a:schemeClr val="dk1"/>
                </a:solidFill>
                <a:latin typeface="Times New Roman"/>
                <a:ea typeface="Times New Roman"/>
                <a:cs typeface="Times New Roman"/>
                <a:sym typeface="Times New Roman"/>
              </a:rPr>
              <a:t>having constant Mean and Variance).</a:t>
            </a:r>
            <a:endParaRPr sz="7900">
              <a:solidFill>
                <a:schemeClr val="dk1"/>
              </a:solidFill>
              <a:latin typeface="Times New Roman"/>
              <a:ea typeface="Times New Roman"/>
              <a:cs typeface="Times New Roman"/>
              <a:sym typeface="Times New Roman"/>
            </a:endParaRPr>
          </a:p>
          <a:p>
            <a:pPr indent="-354012" lvl="0" marL="457200" rtl="0" algn="l">
              <a:lnSpc>
                <a:spcPct val="115000"/>
              </a:lnSpc>
              <a:spcBef>
                <a:spcPts val="0"/>
              </a:spcBef>
              <a:spcAft>
                <a:spcPts val="0"/>
              </a:spcAft>
              <a:buClr>
                <a:schemeClr val="dk1"/>
              </a:buClr>
              <a:buSzPct val="100000"/>
              <a:buFont typeface="Times New Roman"/>
              <a:buChar char="●"/>
            </a:pPr>
            <a:r>
              <a:rPr lang="en" sz="7900">
                <a:solidFill>
                  <a:schemeClr val="dk1"/>
                </a:solidFill>
                <a:latin typeface="Times New Roman"/>
                <a:ea typeface="Times New Roman"/>
                <a:cs typeface="Times New Roman"/>
                <a:sym typeface="Times New Roman"/>
              </a:rPr>
              <a:t>Afterwards, the p,d,q values are found out using the module called “pdmarima” ,where  ‘p’ represents  “AutoRegression” of the dataset, ‘q’ represents the “Moving Average” and ‘d’ represent the “Degree of Ordering “ (or)  “Lagged Values” .</a:t>
            </a:r>
            <a:endParaRPr sz="7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br>
              <a:rPr lang="en" sz="6300">
                <a:solidFill>
                  <a:schemeClr val="dk1"/>
                </a:solidFill>
                <a:latin typeface="Times New Roman"/>
                <a:ea typeface="Times New Roman"/>
                <a:cs typeface="Times New Roman"/>
                <a:sym typeface="Times New Roman"/>
              </a:rPr>
            </a:br>
            <a:endParaRPr sz="63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257175" lvl="0" marL="914400" rtl="0" algn="l">
              <a:spcBef>
                <a:spcPts val="120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Mean Absolute Percentage Error:  0.0061</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0" name="Google Shape;130;p22"/>
          <p:cNvPicPr preferRelativeResize="0"/>
          <p:nvPr/>
        </p:nvPicPr>
        <p:blipFill>
          <a:blip r:embed="rId3">
            <a:alphaModFix/>
          </a:blip>
          <a:stretch>
            <a:fillRect/>
          </a:stretch>
        </p:blipFill>
        <p:spPr>
          <a:xfrm>
            <a:off x="242675" y="697900"/>
            <a:ext cx="4082001" cy="2731364"/>
          </a:xfrm>
          <a:prstGeom prst="rect">
            <a:avLst/>
          </a:prstGeom>
          <a:noFill/>
          <a:ln>
            <a:noFill/>
          </a:ln>
        </p:spPr>
      </p:pic>
      <p:pic>
        <p:nvPicPr>
          <p:cNvPr id="131" name="Google Shape;131;p22"/>
          <p:cNvPicPr preferRelativeResize="0"/>
          <p:nvPr/>
        </p:nvPicPr>
        <p:blipFill rotWithShape="1">
          <a:blip r:embed="rId4">
            <a:alphaModFix/>
          </a:blip>
          <a:srcRect b="5250" l="-5370" r="5369" t="-5250"/>
          <a:stretch/>
        </p:blipFill>
        <p:spPr>
          <a:xfrm>
            <a:off x="4433975" y="514797"/>
            <a:ext cx="4571850" cy="2945191"/>
          </a:xfrm>
          <a:prstGeom prst="rect">
            <a:avLst/>
          </a:prstGeom>
          <a:noFill/>
          <a:ln>
            <a:noFill/>
          </a:ln>
        </p:spPr>
      </p:pic>
      <p:sp>
        <p:nvSpPr>
          <p:cNvPr id="132" name="Google Shape;132;p22"/>
          <p:cNvSpPr txBox="1"/>
          <p:nvPr/>
        </p:nvSpPr>
        <p:spPr>
          <a:xfrm>
            <a:off x="363525" y="126275"/>
            <a:ext cx="5425200" cy="49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chemeClr val="dk1"/>
                </a:solidFill>
                <a:latin typeface="Times New Roman"/>
                <a:ea typeface="Times New Roman"/>
                <a:cs typeface="Times New Roman"/>
                <a:sym typeface="Times New Roman"/>
              </a:rPr>
              <a:t>PLOTS </a:t>
            </a:r>
            <a:endParaRPr b="1" sz="2200">
              <a:solidFill>
                <a:schemeClr val="dk1"/>
              </a:solidFill>
              <a:latin typeface="Times New Roman"/>
              <a:ea typeface="Times New Roman"/>
              <a:cs typeface="Times New Roman"/>
              <a:sym typeface="Times New Roman"/>
            </a:endParaRPr>
          </a:p>
        </p:txBody>
      </p:sp>
      <p:sp>
        <p:nvSpPr>
          <p:cNvPr id="133" name="Google Shape;133;p22"/>
          <p:cNvSpPr txBox="1"/>
          <p:nvPr/>
        </p:nvSpPr>
        <p:spPr>
          <a:xfrm>
            <a:off x="156450" y="3653550"/>
            <a:ext cx="8987400" cy="13527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chemeClr val="dk1"/>
                </a:solidFill>
                <a:latin typeface="Times New Roman"/>
                <a:ea typeface="Times New Roman"/>
                <a:cs typeface="Times New Roman"/>
                <a:sym typeface="Times New Roman"/>
              </a:rPr>
              <a:t>Metrics Evaluation for the Model</a:t>
            </a:r>
            <a:endParaRPr b="1" sz="2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100">
                <a:solidFill>
                  <a:schemeClr val="dk1"/>
                </a:solidFill>
                <a:latin typeface="Times New Roman"/>
                <a:ea typeface="Times New Roman"/>
                <a:cs typeface="Times New Roman"/>
                <a:sym typeface="Times New Roman"/>
              </a:rPr>
              <a:t>Root Mean Square Error: 2.7388</a:t>
            </a:r>
            <a:endParaRPr sz="2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100">
                <a:solidFill>
                  <a:schemeClr val="dk1"/>
                </a:solidFill>
                <a:latin typeface="Times New Roman"/>
                <a:ea typeface="Times New Roman"/>
                <a:cs typeface="Times New Roman"/>
                <a:sym typeface="Times New Roman"/>
              </a:rPr>
              <a:t>Mean Absolute Percentage Error : 0.00619</a:t>
            </a:r>
            <a:endParaRPr sz="21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nvSpPr>
        <p:spPr>
          <a:xfrm>
            <a:off x="377325" y="257675"/>
            <a:ext cx="8337900" cy="86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500">
                <a:solidFill>
                  <a:schemeClr val="dk1"/>
                </a:solidFill>
                <a:latin typeface="Times New Roman"/>
                <a:ea typeface="Times New Roman"/>
                <a:cs typeface="Times New Roman"/>
                <a:sym typeface="Times New Roman"/>
              </a:rPr>
              <a:t>Long Short Term Memory cell (LSTM)</a:t>
            </a:r>
            <a:endParaRPr b="1" sz="3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2500">
              <a:solidFill>
                <a:schemeClr val="lt2"/>
              </a:solidFill>
              <a:latin typeface="Times New Roman"/>
              <a:ea typeface="Times New Roman"/>
              <a:cs typeface="Times New Roman"/>
              <a:sym typeface="Times New Roman"/>
            </a:endParaRPr>
          </a:p>
        </p:txBody>
      </p:sp>
      <p:sp>
        <p:nvSpPr>
          <p:cNvPr id="139" name="Google Shape;139;p23"/>
          <p:cNvSpPr txBox="1"/>
          <p:nvPr/>
        </p:nvSpPr>
        <p:spPr>
          <a:xfrm>
            <a:off x="432525" y="1265400"/>
            <a:ext cx="8337900" cy="3423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The LSTM is a part of  Deep Learning, which used for handling </a:t>
            </a:r>
            <a:r>
              <a:rPr lang="en" sz="1800">
                <a:solidFill>
                  <a:schemeClr val="dk1"/>
                </a:solidFill>
                <a:latin typeface="Times New Roman"/>
                <a:ea typeface="Times New Roman"/>
                <a:cs typeface="Times New Roman"/>
                <a:sym typeface="Times New Roman"/>
              </a:rPr>
              <a:t>sequential data .</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Belongs to the family of Recurrent Neural Network (RNN) that are capable of learning long-term dependencies, especially in problems involving sequence prediction.</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sz="1800">
                <a:solidFill>
                  <a:schemeClr val="dk1"/>
                </a:solidFill>
                <a:highlight>
                  <a:schemeClr val="lt1"/>
                </a:highlight>
                <a:latin typeface="Times New Roman"/>
                <a:ea typeface="Times New Roman"/>
                <a:cs typeface="Times New Roman"/>
                <a:sym typeface="Times New Roman"/>
              </a:rPr>
              <a:t>LSTM has feedback connections, i.e., it is capable of processing entire sequences of data, making it suitable for tasks involving sequential data. However, LSTMs are also versatile and can handle individual data points, such as images.</a:t>
            </a:r>
            <a:endParaRPr sz="2400">
              <a:solidFill>
                <a:schemeClr val="dk1"/>
              </a:solidFill>
              <a:highlight>
                <a:schemeClr val="lt1"/>
              </a:highlight>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Here, we use some activation rules like Sigmoid, Tanh etc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4"/>
          <p:cNvPicPr preferRelativeResize="0"/>
          <p:nvPr/>
        </p:nvPicPr>
        <p:blipFill>
          <a:blip r:embed="rId3">
            <a:alphaModFix/>
          </a:blip>
          <a:stretch>
            <a:fillRect/>
          </a:stretch>
        </p:blipFill>
        <p:spPr>
          <a:xfrm>
            <a:off x="152400" y="0"/>
            <a:ext cx="8839199" cy="3583975"/>
          </a:xfrm>
          <a:prstGeom prst="rect">
            <a:avLst/>
          </a:prstGeom>
          <a:noFill/>
          <a:ln>
            <a:noFill/>
          </a:ln>
        </p:spPr>
      </p:pic>
      <p:sp>
        <p:nvSpPr>
          <p:cNvPr id="145" name="Google Shape;145;p24"/>
          <p:cNvSpPr txBox="1"/>
          <p:nvPr/>
        </p:nvSpPr>
        <p:spPr>
          <a:xfrm>
            <a:off x="152400" y="3659250"/>
            <a:ext cx="7255200" cy="205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800">
                <a:solidFill>
                  <a:schemeClr val="dk1"/>
                </a:solidFill>
                <a:latin typeface="Times New Roman"/>
                <a:ea typeface="Times New Roman"/>
                <a:cs typeface="Times New Roman"/>
                <a:sym typeface="Times New Roman"/>
              </a:rPr>
              <a:t>Metrics Evaluation for the Model</a:t>
            </a:r>
            <a:endParaRPr b="1" sz="2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100">
                <a:solidFill>
                  <a:schemeClr val="dk1"/>
                </a:solidFill>
                <a:latin typeface="Times New Roman"/>
                <a:ea typeface="Times New Roman"/>
                <a:cs typeface="Times New Roman"/>
                <a:sym typeface="Times New Roman"/>
              </a:rPr>
              <a:t>Root Mean Square Error: </a:t>
            </a:r>
            <a:r>
              <a:rPr lang="en" sz="2100">
                <a:solidFill>
                  <a:schemeClr val="dk1"/>
                </a:solidFill>
                <a:latin typeface="Times New Roman"/>
                <a:ea typeface="Times New Roman"/>
                <a:cs typeface="Times New Roman"/>
                <a:sym typeface="Times New Roman"/>
              </a:rPr>
              <a:t>7.487004</a:t>
            </a:r>
            <a:endParaRPr sz="2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100">
                <a:solidFill>
                  <a:schemeClr val="dk1"/>
                </a:solidFill>
                <a:latin typeface="Times New Roman"/>
                <a:ea typeface="Times New Roman"/>
                <a:cs typeface="Times New Roman"/>
                <a:sym typeface="Times New Roman"/>
              </a:rPr>
              <a:t>Mean Absolute Percentage Error : </a:t>
            </a:r>
            <a:r>
              <a:rPr lang="en" sz="2100">
                <a:solidFill>
                  <a:schemeClr val="dk1"/>
                </a:solidFill>
                <a:latin typeface="Times New Roman"/>
                <a:ea typeface="Times New Roman"/>
                <a:cs typeface="Times New Roman"/>
                <a:sym typeface="Times New Roman"/>
              </a:rPr>
              <a:t>0.929932</a:t>
            </a:r>
            <a:endParaRPr sz="2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800">
              <a:solidFill>
                <a:schemeClr val="lt2"/>
              </a:solidFill>
            </a:endParaRPr>
          </a:p>
          <a:p>
            <a:pPr indent="0" lvl="0" marL="0" rtl="0" algn="l">
              <a:spcBef>
                <a:spcPts val="1200"/>
              </a:spcBef>
              <a:spcAft>
                <a:spcPts val="0"/>
              </a:spcAft>
              <a:buNone/>
            </a:pPr>
            <a:r>
              <a:t/>
            </a:r>
            <a:endParaRPr sz="21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020">
                <a:latin typeface="Times New Roman"/>
                <a:ea typeface="Times New Roman"/>
                <a:cs typeface="Times New Roman"/>
                <a:sym typeface="Times New Roman"/>
              </a:rPr>
              <a:t>Linear Regression</a:t>
            </a:r>
            <a:endParaRPr b="1" sz="3020">
              <a:latin typeface="Times New Roman"/>
              <a:ea typeface="Times New Roman"/>
              <a:cs typeface="Times New Roman"/>
              <a:sym typeface="Times New Roman"/>
            </a:endParaRPr>
          </a:p>
        </p:txBody>
      </p:sp>
      <p:sp>
        <p:nvSpPr>
          <p:cNvPr id="151" name="Google Shape;151;p25"/>
          <p:cNvSpPr txBox="1"/>
          <p:nvPr>
            <p:ph idx="1" type="body"/>
          </p:nvPr>
        </p:nvSpPr>
        <p:spPr>
          <a:xfrm>
            <a:off x="311700" y="1152475"/>
            <a:ext cx="8520600" cy="3416400"/>
          </a:xfrm>
          <a:prstGeom prst="rect">
            <a:avLst/>
          </a:prstGeom>
          <a:solidFill>
            <a:schemeClr val="lt1"/>
          </a:solidFill>
        </p:spPr>
        <p:txBody>
          <a:bodyPr anchorCtr="0" anchor="t" bIns="91425" lIns="91425" spcFirstLastPara="1" rIns="91425" wrap="square" tIns="91425">
            <a:normAutofit/>
          </a:bodyPr>
          <a:lstStyle/>
          <a:p>
            <a:pPr indent="-374650" lvl="0" marL="457200" rtl="0" algn="l">
              <a:spcBef>
                <a:spcPts val="0"/>
              </a:spcBef>
              <a:spcAft>
                <a:spcPts val="0"/>
              </a:spcAft>
              <a:buClr>
                <a:schemeClr val="dk1"/>
              </a:buClr>
              <a:buSzPts val="2300"/>
              <a:buFont typeface="Times New Roman"/>
              <a:buChar char="●"/>
            </a:pPr>
            <a:r>
              <a:rPr lang="en" sz="2300">
                <a:solidFill>
                  <a:schemeClr val="dk1"/>
                </a:solidFill>
                <a:highlight>
                  <a:schemeClr val="lt1"/>
                </a:highlight>
                <a:latin typeface="Times New Roman"/>
                <a:ea typeface="Times New Roman"/>
                <a:cs typeface="Times New Roman"/>
                <a:sym typeface="Times New Roman"/>
              </a:rPr>
              <a:t>Linear regression algorithm shows a linear relationship between a dependent (</a:t>
            </a:r>
            <a:r>
              <a:rPr lang="en" sz="2300">
                <a:solidFill>
                  <a:schemeClr val="dk1"/>
                </a:solidFill>
                <a:highlight>
                  <a:schemeClr val="lt1"/>
                </a:highlight>
                <a:latin typeface="Times New Roman"/>
                <a:ea typeface="Times New Roman"/>
                <a:cs typeface="Times New Roman"/>
                <a:sym typeface="Times New Roman"/>
              </a:rPr>
              <a:t>y</a:t>
            </a:r>
            <a:r>
              <a:rPr lang="en" sz="2300">
                <a:solidFill>
                  <a:schemeClr val="dk1"/>
                </a:solidFill>
                <a:highlight>
                  <a:schemeClr val="lt1"/>
                </a:highlight>
                <a:latin typeface="Times New Roman"/>
                <a:ea typeface="Times New Roman"/>
                <a:cs typeface="Times New Roman"/>
                <a:sym typeface="Times New Roman"/>
              </a:rPr>
              <a:t>) and one or more independent (x) variables.</a:t>
            </a:r>
            <a:endParaRPr sz="2300">
              <a:solidFill>
                <a:schemeClr val="dk1"/>
              </a:solidFill>
              <a:highlight>
                <a:schemeClr val="lt1"/>
              </a:highlight>
              <a:latin typeface="Times New Roman"/>
              <a:ea typeface="Times New Roman"/>
              <a:cs typeface="Times New Roman"/>
              <a:sym typeface="Times New Roman"/>
            </a:endParaRPr>
          </a:p>
          <a:p>
            <a:pPr indent="-374650" lvl="0" marL="457200" rtl="0" algn="l">
              <a:spcBef>
                <a:spcPts val="0"/>
              </a:spcBef>
              <a:spcAft>
                <a:spcPts val="0"/>
              </a:spcAft>
              <a:buClr>
                <a:schemeClr val="dk1"/>
              </a:buClr>
              <a:buSzPts val="2300"/>
              <a:buFont typeface="Times New Roman"/>
              <a:buChar char="●"/>
            </a:pPr>
            <a:r>
              <a:rPr lang="en" sz="2300">
                <a:solidFill>
                  <a:schemeClr val="dk1"/>
                </a:solidFill>
                <a:highlight>
                  <a:schemeClr val="lt1"/>
                </a:highlight>
                <a:latin typeface="Times New Roman"/>
                <a:ea typeface="Times New Roman"/>
                <a:cs typeface="Times New Roman"/>
                <a:sym typeface="Times New Roman"/>
              </a:rPr>
              <a:t>Linear regression makes predictions for continuous/real or numeric variables such as sales, salary, age, product price, etc.</a:t>
            </a:r>
            <a:endParaRPr sz="2300">
              <a:solidFill>
                <a:schemeClr val="dk1"/>
              </a:solidFill>
              <a:highlight>
                <a:schemeClr val="lt1"/>
              </a:highlight>
              <a:latin typeface="Times New Roman"/>
              <a:ea typeface="Times New Roman"/>
              <a:cs typeface="Times New Roman"/>
              <a:sym typeface="Times New Roman"/>
            </a:endParaRPr>
          </a:p>
          <a:p>
            <a:pPr indent="-374650" lvl="0" marL="457200" rtl="0" algn="l">
              <a:spcBef>
                <a:spcPts val="0"/>
              </a:spcBef>
              <a:spcAft>
                <a:spcPts val="0"/>
              </a:spcAft>
              <a:buClr>
                <a:schemeClr val="dk1"/>
              </a:buClr>
              <a:buSzPts val="2300"/>
              <a:buFont typeface="Times New Roman"/>
              <a:buChar char="●"/>
            </a:pPr>
            <a:r>
              <a:rPr lang="en" sz="2300">
                <a:solidFill>
                  <a:schemeClr val="dk1"/>
                </a:solidFill>
                <a:highlight>
                  <a:schemeClr val="lt1"/>
                </a:highlight>
                <a:latin typeface="Times New Roman"/>
                <a:ea typeface="Times New Roman"/>
                <a:cs typeface="Times New Roman"/>
                <a:sym typeface="Times New Roman"/>
              </a:rPr>
              <a:t>RMSE : 1125.10</a:t>
            </a:r>
            <a:endParaRPr sz="2300">
              <a:solidFill>
                <a:schemeClr val="dk1"/>
              </a:solidFill>
              <a:highlight>
                <a:schemeClr val="lt1"/>
              </a:highlight>
              <a:latin typeface="Times New Roman"/>
              <a:ea typeface="Times New Roman"/>
              <a:cs typeface="Times New Roman"/>
              <a:sym typeface="Times New Roman"/>
            </a:endParaRPr>
          </a:p>
          <a:p>
            <a:pPr indent="0" lvl="0" marL="0" rtl="0" algn="l">
              <a:spcBef>
                <a:spcPts val="1200"/>
              </a:spcBef>
              <a:spcAft>
                <a:spcPts val="1200"/>
              </a:spcAft>
              <a:buNone/>
            </a:pPr>
            <a:r>
              <a:t/>
            </a:r>
            <a:endParaRPr sz="2300">
              <a:solidFill>
                <a:schemeClr val="dk1"/>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6"/>
          <p:cNvSpPr txBox="1"/>
          <p:nvPr>
            <p:ph type="title"/>
          </p:nvPr>
        </p:nvSpPr>
        <p:spPr>
          <a:xfrm>
            <a:off x="63225" y="29317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4120">
                <a:latin typeface="Times New Roman"/>
                <a:ea typeface="Times New Roman"/>
                <a:cs typeface="Times New Roman"/>
                <a:sym typeface="Times New Roman"/>
              </a:rPr>
              <a:t>SARIMA</a:t>
            </a:r>
            <a:endParaRPr b="1" sz="4120">
              <a:latin typeface="Times New Roman"/>
              <a:ea typeface="Times New Roman"/>
              <a:cs typeface="Times New Roman"/>
              <a:sym typeface="Times New Roman"/>
            </a:endParaRPr>
          </a:p>
        </p:txBody>
      </p:sp>
      <p:sp>
        <p:nvSpPr>
          <p:cNvPr id="157" name="Google Shape;157;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700">
                <a:solidFill>
                  <a:schemeClr val="dk1"/>
                </a:solidFill>
                <a:highlight>
                  <a:schemeClr val="lt1"/>
                </a:highlight>
                <a:latin typeface="Times New Roman"/>
                <a:ea typeface="Times New Roman"/>
                <a:cs typeface="Times New Roman"/>
                <a:sym typeface="Times New Roman"/>
              </a:rPr>
              <a:t>Seasonal AutoRegressive Integrated Moving Average, is an extension of the ARIMA model that incorporates seasonality into time series forecasting. </a:t>
            </a:r>
            <a:endParaRPr sz="1700">
              <a:solidFill>
                <a:schemeClr val="dk1"/>
              </a:solidFill>
              <a:highlight>
                <a:schemeClr val="lt1"/>
              </a:highlight>
              <a:latin typeface="Times New Roman"/>
              <a:ea typeface="Times New Roman"/>
              <a:cs typeface="Times New Roman"/>
              <a:sym typeface="Times New Roman"/>
            </a:endParaRPr>
          </a:p>
          <a:p>
            <a:pPr indent="0" lvl="0" marL="0" rtl="0" algn="l">
              <a:spcBef>
                <a:spcPts val="1500"/>
              </a:spcBef>
              <a:spcAft>
                <a:spcPts val="0"/>
              </a:spcAft>
              <a:buNone/>
            </a:pPr>
            <a:r>
              <a:rPr lang="en" sz="1700">
                <a:solidFill>
                  <a:schemeClr val="dk1"/>
                </a:solidFill>
                <a:highlight>
                  <a:schemeClr val="lt1"/>
                </a:highlight>
                <a:latin typeface="Times New Roman"/>
                <a:ea typeface="Times New Roman"/>
                <a:cs typeface="Times New Roman"/>
                <a:sym typeface="Times New Roman"/>
              </a:rPr>
              <a:t>The notation for SARIMA is SARIMA(p, d, q)(P, D, Q, s), where:</a:t>
            </a:r>
            <a:endParaRPr sz="1700">
              <a:solidFill>
                <a:schemeClr val="dk1"/>
              </a:solidFill>
              <a:highlight>
                <a:schemeClr val="lt1"/>
              </a:highlight>
              <a:latin typeface="Times New Roman"/>
              <a:ea typeface="Times New Roman"/>
              <a:cs typeface="Times New Roman"/>
              <a:sym typeface="Times New Roman"/>
            </a:endParaRPr>
          </a:p>
          <a:p>
            <a:pPr indent="-336550" lvl="0" marL="457200" rtl="0" algn="l">
              <a:spcBef>
                <a:spcPts val="1500"/>
              </a:spcBef>
              <a:spcAft>
                <a:spcPts val="0"/>
              </a:spcAft>
              <a:buClr>
                <a:schemeClr val="dk1"/>
              </a:buClr>
              <a:buSzPts val="1700"/>
              <a:buFont typeface="Times New Roman"/>
              <a:buChar char="●"/>
            </a:pPr>
            <a:r>
              <a:rPr lang="en" sz="1700">
                <a:solidFill>
                  <a:schemeClr val="dk1"/>
                </a:solidFill>
                <a:highlight>
                  <a:schemeClr val="lt1"/>
                </a:highlight>
                <a:latin typeface="Times New Roman"/>
                <a:ea typeface="Times New Roman"/>
                <a:cs typeface="Times New Roman"/>
                <a:sym typeface="Times New Roman"/>
              </a:rPr>
              <a:t>p, d, q are the non-seasonal AR order, differencing, and MA order.</a:t>
            </a:r>
            <a:endParaRPr sz="1700">
              <a:solidFill>
                <a:schemeClr val="dk1"/>
              </a:solidFill>
              <a:highlight>
                <a:schemeClr val="lt1"/>
              </a:highlight>
              <a:latin typeface="Times New Roman"/>
              <a:ea typeface="Times New Roman"/>
              <a:cs typeface="Times New Roman"/>
              <a:sym typeface="Times New Roman"/>
            </a:endParaRPr>
          </a:p>
          <a:p>
            <a:pPr indent="-336550" lvl="0" marL="457200" rtl="0" algn="l">
              <a:spcBef>
                <a:spcPts val="0"/>
              </a:spcBef>
              <a:spcAft>
                <a:spcPts val="0"/>
              </a:spcAft>
              <a:buClr>
                <a:schemeClr val="dk1"/>
              </a:buClr>
              <a:buSzPts val="1700"/>
              <a:buFont typeface="Times New Roman"/>
              <a:buChar char="●"/>
            </a:pPr>
            <a:r>
              <a:rPr lang="en" sz="1700">
                <a:solidFill>
                  <a:schemeClr val="dk1"/>
                </a:solidFill>
                <a:highlight>
                  <a:schemeClr val="lt1"/>
                </a:highlight>
                <a:latin typeface="Times New Roman"/>
                <a:ea typeface="Times New Roman"/>
                <a:cs typeface="Times New Roman"/>
                <a:sym typeface="Times New Roman"/>
              </a:rPr>
              <a:t>P, D, Q are the seasonal AR order, seasonal differencing, and seasonal MA order.</a:t>
            </a:r>
            <a:endParaRPr sz="1700">
              <a:solidFill>
                <a:schemeClr val="dk1"/>
              </a:solidFill>
              <a:highlight>
                <a:schemeClr val="lt1"/>
              </a:highlight>
              <a:latin typeface="Times New Roman"/>
              <a:ea typeface="Times New Roman"/>
              <a:cs typeface="Times New Roman"/>
              <a:sym typeface="Times New Roman"/>
            </a:endParaRPr>
          </a:p>
          <a:p>
            <a:pPr indent="-336550" lvl="0" marL="457200" rtl="0" algn="l">
              <a:spcBef>
                <a:spcPts val="0"/>
              </a:spcBef>
              <a:spcAft>
                <a:spcPts val="0"/>
              </a:spcAft>
              <a:buClr>
                <a:schemeClr val="dk1"/>
              </a:buClr>
              <a:buSzPts val="1700"/>
              <a:buFont typeface="Times New Roman"/>
              <a:buChar char="●"/>
            </a:pPr>
            <a:r>
              <a:rPr lang="en" sz="1700">
                <a:solidFill>
                  <a:schemeClr val="dk1"/>
                </a:solidFill>
                <a:highlight>
                  <a:schemeClr val="lt1"/>
                </a:highlight>
                <a:latin typeface="Times New Roman"/>
                <a:ea typeface="Times New Roman"/>
                <a:cs typeface="Times New Roman"/>
                <a:sym typeface="Times New Roman"/>
              </a:rPr>
              <a:t>s is the length of the seasonality.</a:t>
            </a:r>
            <a:endParaRPr sz="1700">
              <a:solidFill>
                <a:schemeClr val="dk1"/>
              </a:solidFill>
              <a:highlight>
                <a:schemeClr val="lt1"/>
              </a:highlight>
              <a:latin typeface="Times New Roman"/>
              <a:ea typeface="Times New Roman"/>
              <a:cs typeface="Times New Roman"/>
              <a:sym typeface="Times New Roman"/>
            </a:endParaRPr>
          </a:p>
          <a:p>
            <a:pPr indent="0" lvl="0" marL="0" rtl="0" algn="l">
              <a:spcBef>
                <a:spcPts val="1500"/>
              </a:spcBef>
              <a:spcAft>
                <a:spcPts val="1200"/>
              </a:spcAft>
              <a:buNone/>
            </a:pPr>
            <a:r>
              <a:rPr lang="en" sz="1700">
                <a:solidFill>
                  <a:schemeClr val="dk1"/>
                </a:solidFill>
                <a:highlight>
                  <a:schemeClr val="lt1"/>
                </a:highlight>
                <a:latin typeface="Times New Roman"/>
                <a:ea typeface="Times New Roman"/>
                <a:cs typeface="Times New Roman"/>
                <a:sym typeface="Times New Roman"/>
              </a:rPr>
              <a:t>SARIMA models are particularly useful when dealing with time series data that exhibit a repeating pattern or seasonality, such as sales data that shows regular peaks during certain months of the year.</a:t>
            </a:r>
            <a:endParaRPr sz="1700">
              <a:solidFill>
                <a:schemeClr val="dk1"/>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3" name="Google Shape;163;p27"/>
          <p:cNvPicPr preferRelativeResize="0"/>
          <p:nvPr/>
        </p:nvPicPr>
        <p:blipFill>
          <a:blip r:embed="rId3">
            <a:alphaModFix/>
          </a:blip>
          <a:stretch>
            <a:fillRect/>
          </a:stretch>
        </p:blipFill>
        <p:spPr>
          <a:xfrm>
            <a:off x="391125" y="572300"/>
            <a:ext cx="8172174" cy="2984625"/>
          </a:xfrm>
          <a:prstGeom prst="rect">
            <a:avLst/>
          </a:prstGeom>
          <a:noFill/>
          <a:ln>
            <a:noFill/>
          </a:ln>
        </p:spPr>
      </p:pic>
      <p:sp>
        <p:nvSpPr>
          <p:cNvPr id="164" name="Google Shape;164;p27"/>
          <p:cNvSpPr txBox="1"/>
          <p:nvPr/>
        </p:nvSpPr>
        <p:spPr>
          <a:xfrm>
            <a:off x="139325" y="3556925"/>
            <a:ext cx="8520600" cy="171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chemeClr val="dk1"/>
                </a:solidFill>
                <a:latin typeface="Times New Roman"/>
                <a:ea typeface="Times New Roman"/>
                <a:cs typeface="Times New Roman"/>
                <a:sym typeface="Times New Roman"/>
              </a:rPr>
              <a:t>Metrics Evaluation for the Model</a:t>
            </a:r>
            <a:endParaRPr b="1" sz="2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100">
                <a:solidFill>
                  <a:schemeClr val="dk1"/>
                </a:solidFill>
                <a:latin typeface="Times New Roman"/>
                <a:ea typeface="Times New Roman"/>
                <a:cs typeface="Times New Roman"/>
                <a:sym typeface="Times New Roman"/>
              </a:rPr>
              <a:t>Mean Absolute Error: 43.110</a:t>
            </a:r>
            <a:endParaRPr sz="2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100">
                <a:solidFill>
                  <a:schemeClr val="dk1"/>
                </a:solidFill>
                <a:latin typeface="Times New Roman"/>
                <a:ea typeface="Times New Roman"/>
                <a:cs typeface="Times New Roman"/>
                <a:sym typeface="Times New Roman"/>
              </a:rPr>
              <a:t>Mean Squared Error : 3246.2</a:t>
            </a:r>
            <a:endParaRPr sz="2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100">
                <a:solidFill>
                  <a:schemeClr val="dk1"/>
                </a:solidFill>
                <a:latin typeface="Times New Roman"/>
                <a:ea typeface="Times New Roman"/>
                <a:cs typeface="Times New Roman"/>
                <a:sym typeface="Times New Roman"/>
              </a:rPr>
              <a:t>Root Mean Square Error : 56.9826</a:t>
            </a:r>
            <a:endParaRPr sz="2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800">
              <a:solidFill>
                <a:schemeClr val="lt2"/>
              </a:solidFill>
            </a:endParaRPr>
          </a:p>
          <a:p>
            <a:pPr indent="0" lvl="0" marL="0" rtl="0" algn="l">
              <a:spcBef>
                <a:spcPts val="120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lt2"/>
              </a:solidFill>
            </a:endParaRPr>
          </a:p>
        </p:txBody>
      </p:sp>
      <p:sp>
        <p:nvSpPr>
          <p:cNvPr id="165" name="Google Shape;165;p27"/>
          <p:cNvSpPr txBox="1"/>
          <p:nvPr/>
        </p:nvSpPr>
        <p:spPr>
          <a:xfrm>
            <a:off x="239275" y="59800"/>
            <a:ext cx="79926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dk1"/>
                </a:solidFill>
                <a:latin typeface="Times New Roman"/>
                <a:ea typeface="Times New Roman"/>
                <a:cs typeface="Times New Roman"/>
                <a:sym typeface="Times New Roman"/>
              </a:rPr>
              <a:t>Visualization of the prediction.</a:t>
            </a:r>
            <a:endParaRPr sz="2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lt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3920">
                <a:latin typeface="Times New Roman"/>
                <a:ea typeface="Times New Roman"/>
                <a:cs typeface="Times New Roman"/>
                <a:sym typeface="Times New Roman"/>
              </a:rPr>
              <a:t>FB Prophet </a:t>
            </a:r>
            <a:endParaRPr b="1" sz="3920">
              <a:latin typeface="Times New Roman"/>
              <a:ea typeface="Times New Roman"/>
              <a:cs typeface="Times New Roman"/>
              <a:sym typeface="Times New Roman"/>
            </a:endParaRPr>
          </a:p>
        </p:txBody>
      </p:sp>
      <p:sp>
        <p:nvSpPr>
          <p:cNvPr id="171" name="Google Shape;171;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en">
                <a:solidFill>
                  <a:schemeClr val="dk1"/>
                </a:solidFill>
                <a:highlight>
                  <a:schemeClr val="lt1"/>
                </a:highlight>
                <a:latin typeface="Times New Roman"/>
                <a:ea typeface="Times New Roman"/>
                <a:cs typeface="Times New Roman"/>
                <a:sym typeface="Times New Roman"/>
              </a:rPr>
              <a:t>Prophet is a forecasting tool developed by Facebook for time series analysis and prediction. It is designed to handle daily observations that exhibit patterns on different time scales, including holidays and special events</a:t>
            </a:r>
            <a:endParaRPr>
              <a:solidFill>
                <a:schemeClr val="dk1"/>
              </a:solidFill>
              <a:highlight>
                <a:schemeClr val="lt1"/>
              </a:highlight>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highlight>
                  <a:schemeClr val="lt1"/>
                </a:highlight>
                <a:latin typeface="Times New Roman"/>
                <a:ea typeface="Times New Roman"/>
                <a:cs typeface="Times New Roman"/>
                <a:sym typeface="Times New Roman"/>
              </a:rPr>
              <a:t>Prophet is known for its simplicity, flexibility, and ability to generate accurate forecasts with minimal input from users. </a:t>
            </a:r>
            <a:endParaRPr>
              <a:solidFill>
                <a:schemeClr val="dk1"/>
              </a:solidFill>
              <a:highlight>
                <a:schemeClr val="lt1"/>
              </a:highlight>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highlight>
                  <a:schemeClr val="lt1"/>
                </a:highlight>
                <a:latin typeface="Times New Roman"/>
                <a:ea typeface="Times New Roman"/>
                <a:cs typeface="Times New Roman"/>
                <a:sym typeface="Times New Roman"/>
              </a:rPr>
              <a:t>Prophet decomposes time series data into three main components: trend, seasonality, and holidays. The model assumes that these components act in an additive manner.</a:t>
            </a:r>
            <a:endParaRPr>
              <a:solidFill>
                <a:schemeClr val="dk1"/>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idx="1" type="body"/>
          </p:nvPr>
        </p:nvSpPr>
        <p:spPr>
          <a:xfrm>
            <a:off x="73625" y="3430175"/>
            <a:ext cx="9014400" cy="34164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b="1" lang="en" sz="2500">
                <a:solidFill>
                  <a:schemeClr val="dk1"/>
                </a:solidFill>
                <a:latin typeface="Times New Roman"/>
                <a:ea typeface="Times New Roman"/>
                <a:cs typeface="Times New Roman"/>
                <a:sym typeface="Times New Roman"/>
              </a:rPr>
              <a:t>  </a:t>
            </a:r>
            <a:endParaRPr b="1" sz="25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 sz="2500">
                <a:solidFill>
                  <a:schemeClr val="dk1"/>
                </a:solidFill>
                <a:latin typeface="Times New Roman"/>
                <a:ea typeface="Times New Roman"/>
                <a:cs typeface="Times New Roman"/>
                <a:sym typeface="Times New Roman"/>
              </a:rPr>
              <a:t>Metrics Evaluation for the Model</a:t>
            </a:r>
            <a:endParaRPr b="1" sz="25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
                <a:solidFill>
                  <a:schemeClr val="dk1"/>
                </a:solidFill>
                <a:latin typeface="Times New Roman"/>
                <a:ea typeface="Times New Roman"/>
                <a:cs typeface="Times New Roman"/>
                <a:sym typeface="Times New Roman"/>
              </a:rPr>
              <a:t>Mean Absolute Error: 21.9828</a:t>
            </a:r>
            <a:endParaRPr>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
                <a:solidFill>
                  <a:schemeClr val="dk1"/>
                </a:solidFill>
                <a:latin typeface="Times New Roman"/>
                <a:ea typeface="Times New Roman"/>
                <a:cs typeface="Times New Roman"/>
                <a:sym typeface="Times New Roman"/>
              </a:rPr>
              <a:t>Mean Squared Error : 824.4957</a:t>
            </a:r>
            <a:endParaRPr>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
                <a:solidFill>
                  <a:schemeClr val="dk1"/>
                </a:solidFill>
                <a:latin typeface="Times New Roman"/>
                <a:ea typeface="Times New Roman"/>
                <a:cs typeface="Times New Roman"/>
                <a:sym typeface="Times New Roman"/>
              </a:rPr>
              <a:t>Root Mean Square Error : 28.7140</a:t>
            </a:r>
            <a:endParaRPr>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1200"/>
              </a:spcAft>
              <a:buNone/>
            </a:pPr>
            <a:r>
              <a:t/>
            </a:r>
            <a:endParaRPr sz="1700"/>
          </a:p>
        </p:txBody>
      </p:sp>
      <p:pic>
        <p:nvPicPr>
          <p:cNvPr id="177" name="Google Shape;177;p29"/>
          <p:cNvPicPr preferRelativeResize="0"/>
          <p:nvPr/>
        </p:nvPicPr>
        <p:blipFill>
          <a:blip r:embed="rId3">
            <a:alphaModFix/>
          </a:blip>
          <a:stretch>
            <a:fillRect/>
          </a:stretch>
        </p:blipFill>
        <p:spPr>
          <a:xfrm>
            <a:off x="155950" y="658150"/>
            <a:ext cx="8666450" cy="3188825"/>
          </a:xfrm>
          <a:prstGeom prst="rect">
            <a:avLst/>
          </a:prstGeom>
          <a:noFill/>
          <a:ln>
            <a:noFill/>
          </a:ln>
        </p:spPr>
      </p:pic>
      <p:sp>
        <p:nvSpPr>
          <p:cNvPr id="178" name="Google Shape;178;p29"/>
          <p:cNvSpPr txBox="1"/>
          <p:nvPr/>
        </p:nvSpPr>
        <p:spPr>
          <a:xfrm>
            <a:off x="174875" y="147250"/>
            <a:ext cx="8628600" cy="51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dk1"/>
                </a:solidFill>
                <a:latin typeface="Times New Roman"/>
                <a:ea typeface="Times New Roman"/>
                <a:cs typeface="Times New Roman"/>
                <a:sym typeface="Times New Roman"/>
              </a:rPr>
              <a:t>Visualization of the prediction.</a:t>
            </a:r>
            <a:endParaRPr sz="23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820" u="sng">
                <a:latin typeface="Times New Roman"/>
                <a:ea typeface="Times New Roman"/>
                <a:cs typeface="Times New Roman"/>
                <a:sym typeface="Times New Roman"/>
              </a:rPr>
              <a:t>Deployment</a:t>
            </a:r>
            <a:endParaRPr b="1" sz="3820" u="sng">
              <a:latin typeface="Times New Roman"/>
              <a:ea typeface="Times New Roman"/>
              <a:cs typeface="Times New Roman"/>
              <a:sym typeface="Times New Roman"/>
            </a:endParaRPr>
          </a:p>
        </p:txBody>
      </p:sp>
      <p:sp>
        <p:nvSpPr>
          <p:cNvPr id="184" name="Google Shape;184;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t/>
            </a:r>
            <a:endParaRPr sz="2200">
              <a:solidFill>
                <a:schemeClr val="dk1"/>
              </a:solidFill>
              <a:latin typeface="Times New Roman"/>
              <a:ea typeface="Times New Roman"/>
              <a:cs typeface="Times New Roman"/>
              <a:sym typeface="Times New Roman"/>
            </a:endParaRPr>
          </a:p>
          <a:p>
            <a:pPr indent="-368300" lvl="0" marL="457200" rtl="0" algn="l">
              <a:lnSpc>
                <a:spcPct val="105000"/>
              </a:lnSpc>
              <a:spcBef>
                <a:spcPts val="1200"/>
              </a:spcBef>
              <a:spcAft>
                <a:spcPts val="0"/>
              </a:spcAft>
              <a:buClr>
                <a:schemeClr val="dk1"/>
              </a:buClr>
              <a:buSzPts val="2200"/>
              <a:buFont typeface="Times New Roman"/>
              <a:buAutoNum type="arabicPeriod"/>
            </a:pPr>
            <a:r>
              <a:rPr lang="en" sz="2200">
                <a:solidFill>
                  <a:schemeClr val="dk1"/>
                </a:solidFill>
                <a:latin typeface="Times New Roman"/>
                <a:ea typeface="Times New Roman"/>
                <a:cs typeface="Times New Roman"/>
                <a:sym typeface="Times New Roman"/>
              </a:rPr>
              <a:t>Importing Libraries</a:t>
            </a:r>
            <a:endParaRPr sz="2200">
              <a:solidFill>
                <a:schemeClr val="dk1"/>
              </a:solidFill>
              <a:latin typeface="Times New Roman"/>
              <a:ea typeface="Times New Roman"/>
              <a:cs typeface="Times New Roman"/>
              <a:sym typeface="Times New Roman"/>
            </a:endParaRPr>
          </a:p>
          <a:p>
            <a:pPr indent="-368300" lvl="0" marL="457200" rtl="0" algn="l">
              <a:lnSpc>
                <a:spcPct val="105000"/>
              </a:lnSpc>
              <a:spcBef>
                <a:spcPts val="0"/>
              </a:spcBef>
              <a:spcAft>
                <a:spcPts val="0"/>
              </a:spcAft>
              <a:buClr>
                <a:schemeClr val="dk1"/>
              </a:buClr>
              <a:buSzPts val="2200"/>
              <a:buFont typeface="Times New Roman"/>
              <a:buChar char="-"/>
            </a:pPr>
            <a:r>
              <a:rPr lang="en" sz="2200">
                <a:solidFill>
                  <a:schemeClr val="dk1"/>
                </a:solidFill>
                <a:latin typeface="Times New Roman"/>
                <a:ea typeface="Times New Roman"/>
                <a:cs typeface="Times New Roman"/>
                <a:sym typeface="Times New Roman"/>
              </a:rPr>
              <a:t>Flask - For creating the web application</a:t>
            </a:r>
            <a:endParaRPr sz="2200">
              <a:solidFill>
                <a:schemeClr val="dk1"/>
              </a:solidFill>
              <a:latin typeface="Times New Roman"/>
              <a:ea typeface="Times New Roman"/>
              <a:cs typeface="Times New Roman"/>
              <a:sym typeface="Times New Roman"/>
            </a:endParaRPr>
          </a:p>
          <a:p>
            <a:pPr indent="-368300" lvl="0" marL="457200" rtl="0" algn="l">
              <a:lnSpc>
                <a:spcPct val="105000"/>
              </a:lnSpc>
              <a:spcBef>
                <a:spcPts val="0"/>
              </a:spcBef>
              <a:spcAft>
                <a:spcPts val="0"/>
              </a:spcAft>
              <a:buClr>
                <a:schemeClr val="dk1"/>
              </a:buClr>
              <a:buSzPts val="2200"/>
              <a:buFont typeface="Times New Roman"/>
              <a:buChar char="-"/>
            </a:pPr>
            <a:r>
              <a:rPr lang="en" sz="2200">
                <a:solidFill>
                  <a:schemeClr val="dk1"/>
                </a:solidFill>
                <a:latin typeface="Times New Roman"/>
                <a:ea typeface="Times New Roman"/>
                <a:cs typeface="Times New Roman"/>
                <a:sym typeface="Times New Roman"/>
              </a:rPr>
              <a:t>request - To handle HTTP requests</a:t>
            </a:r>
            <a:endParaRPr sz="2200">
              <a:solidFill>
                <a:schemeClr val="dk1"/>
              </a:solidFill>
              <a:latin typeface="Times New Roman"/>
              <a:ea typeface="Times New Roman"/>
              <a:cs typeface="Times New Roman"/>
              <a:sym typeface="Times New Roman"/>
            </a:endParaRPr>
          </a:p>
          <a:p>
            <a:pPr indent="-368300" lvl="0" marL="457200" rtl="0" algn="l">
              <a:lnSpc>
                <a:spcPct val="105000"/>
              </a:lnSpc>
              <a:spcBef>
                <a:spcPts val="0"/>
              </a:spcBef>
              <a:spcAft>
                <a:spcPts val="0"/>
              </a:spcAft>
              <a:buClr>
                <a:schemeClr val="dk1"/>
              </a:buClr>
              <a:buSzPts val="2200"/>
              <a:buFont typeface="Times New Roman"/>
              <a:buChar char="-"/>
            </a:pPr>
            <a:r>
              <a:rPr lang="en" sz="2200">
                <a:solidFill>
                  <a:schemeClr val="dk1"/>
                </a:solidFill>
                <a:latin typeface="Times New Roman"/>
                <a:ea typeface="Times New Roman"/>
                <a:cs typeface="Times New Roman"/>
                <a:sym typeface="Times New Roman"/>
              </a:rPr>
              <a:t>render_template - For rendering HTML templates.</a:t>
            </a:r>
            <a:endParaRPr sz="2200">
              <a:solidFill>
                <a:schemeClr val="dk1"/>
              </a:solidFill>
              <a:latin typeface="Times New Roman"/>
              <a:ea typeface="Times New Roman"/>
              <a:cs typeface="Times New Roman"/>
              <a:sym typeface="Times New Roman"/>
            </a:endParaRPr>
          </a:p>
          <a:p>
            <a:pPr indent="0" lvl="0" marL="914400" rtl="0" algn="l">
              <a:lnSpc>
                <a:spcPct val="105000"/>
              </a:lnSpc>
              <a:spcBef>
                <a:spcPts val="1200"/>
              </a:spcBef>
              <a:spcAft>
                <a:spcPts val="0"/>
              </a:spcAft>
              <a:buNone/>
            </a:pPr>
            <a:r>
              <a:t/>
            </a:r>
            <a:endParaRPr sz="2200">
              <a:solidFill>
                <a:schemeClr val="dk1"/>
              </a:solidFill>
              <a:latin typeface="Times New Roman"/>
              <a:ea typeface="Times New Roman"/>
              <a:cs typeface="Times New Roman"/>
              <a:sym typeface="Times New Roman"/>
            </a:endParaRPr>
          </a:p>
          <a:p>
            <a:pPr indent="-368300" lvl="0" marL="457200" rtl="0" algn="l">
              <a:lnSpc>
                <a:spcPct val="105000"/>
              </a:lnSpc>
              <a:spcBef>
                <a:spcPts val="1200"/>
              </a:spcBef>
              <a:spcAft>
                <a:spcPts val="0"/>
              </a:spcAft>
              <a:buClr>
                <a:schemeClr val="dk1"/>
              </a:buClr>
              <a:buSzPts val="2200"/>
              <a:buFont typeface="Times New Roman"/>
              <a:buAutoNum type="arabicPeriod"/>
            </a:pPr>
            <a:r>
              <a:rPr lang="en" sz="2200">
                <a:solidFill>
                  <a:schemeClr val="dk1"/>
                </a:solidFill>
                <a:latin typeface="Times New Roman"/>
                <a:ea typeface="Times New Roman"/>
                <a:cs typeface="Times New Roman"/>
                <a:sym typeface="Times New Roman"/>
              </a:rPr>
              <a:t>Flask Application Setup</a:t>
            </a:r>
            <a:endParaRPr sz="2200">
              <a:solidFill>
                <a:schemeClr val="dk1"/>
              </a:solidFill>
              <a:latin typeface="Times New Roman"/>
              <a:ea typeface="Times New Roman"/>
              <a:cs typeface="Times New Roman"/>
              <a:sym typeface="Times New Roman"/>
            </a:endParaRPr>
          </a:p>
          <a:p>
            <a:pPr indent="-368300" lvl="0" marL="457200" rtl="0" algn="l">
              <a:lnSpc>
                <a:spcPct val="105000"/>
              </a:lnSpc>
              <a:spcBef>
                <a:spcPts val="0"/>
              </a:spcBef>
              <a:spcAft>
                <a:spcPts val="0"/>
              </a:spcAft>
              <a:buClr>
                <a:schemeClr val="dk1"/>
              </a:buClr>
              <a:buSzPts val="2200"/>
              <a:buFont typeface="Times New Roman"/>
              <a:buChar char="-"/>
            </a:pPr>
            <a:r>
              <a:rPr lang="en" sz="2200">
                <a:solidFill>
                  <a:schemeClr val="dk1"/>
                </a:solidFill>
                <a:latin typeface="Times New Roman"/>
                <a:ea typeface="Times New Roman"/>
                <a:cs typeface="Times New Roman"/>
                <a:sym typeface="Times New Roman"/>
              </a:rPr>
              <a:t>It is created with “app = Flask(__name__)”</a:t>
            </a:r>
            <a:endParaRPr sz="2200">
              <a:solidFill>
                <a:schemeClr val="dk1"/>
              </a:solidFill>
              <a:latin typeface="Times New Roman"/>
              <a:ea typeface="Times New Roman"/>
              <a:cs typeface="Times New Roman"/>
              <a:sym typeface="Times New Roman"/>
            </a:endParaRPr>
          </a:p>
          <a:p>
            <a:pPr indent="0" lvl="0" marL="0" rtl="0" algn="l">
              <a:lnSpc>
                <a:spcPct val="105000"/>
              </a:lnSpc>
              <a:spcBef>
                <a:spcPts val="1200"/>
              </a:spcBef>
              <a:spcAft>
                <a:spcPts val="1200"/>
              </a:spcAft>
              <a:buNone/>
            </a:pPr>
            <a:r>
              <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1"/>
          <p:cNvSpPr txBox="1"/>
          <p:nvPr>
            <p:ph idx="1" type="body"/>
          </p:nvPr>
        </p:nvSpPr>
        <p:spPr>
          <a:xfrm>
            <a:off x="133825" y="181050"/>
            <a:ext cx="8698500" cy="438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1"/>
                </a:solidFill>
                <a:latin typeface="Times New Roman"/>
                <a:ea typeface="Times New Roman"/>
                <a:cs typeface="Times New Roman"/>
                <a:sym typeface="Times New Roman"/>
              </a:rPr>
              <a:t>3. </a:t>
            </a:r>
            <a:r>
              <a:rPr lang="en" sz="2100">
                <a:solidFill>
                  <a:schemeClr val="dk1"/>
                </a:solidFill>
                <a:latin typeface="Times New Roman"/>
                <a:ea typeface="Times New Roman"/>
                <a:cs typeface="Times New Roman"/>
                <a:sym typeface="Times New Roman"/>
              </a:rPr>
              <a:t>HTML Rendering</a:t>
            </a:r>
            <a:endParaRPr sz="2100">
              <a:solidFill>
                <a:schemeClr val="dk1"/>
              </a:solidFill>
              <a:latin typeface="Times New Roman"/>
              <a:ea typeface="Times New Roman"/>
              <a:cs typeface="Times New Roman"/>
              <a:sym typeface="Times New Roman"/>
            </a:endParaRPr>
          </a:p>
          <a:p>
            <a:pPr indent="-361950" lvl="0" marL="457200" rtl="0" algn="l">
              <a:spcBef>
                <a:spcPts val="1200"/>
              </a:spcBef>
              <a:spcAft>
                <a:spcPts val="0"/>
              </a:spcAft>
              <a:buClr>
                <a:schemeClr val="dk1"/>
              </a:buClr>
              <a:buSzPts val="2100"/>
              <a:buFont typeface="Times New Roman"/>
              <a:buChar char="-"/>
            </a:pPr>
            <a:r>
              <a:rPr lang="en" sz="2100">
                <a:solidFill>
                  <a:schemeClr val="dk1"/>
                </a:solidFill>
                <a:latin typeface="Times New Roman"/>
                <a:ea typeface="Times New Roman"/>
                <a:cs typeface="Times New Roman"/>
                <a:sym typeface="Times New Roman"/>
              </a:rPr>
              <a:t>If request method is not POST, we can use the function “index.html”</a:t>
            </a:r>
            <a:endParaRPr sz="2100">
              <a:solidFill>
                <a:schemeClr val="dk1"/>
              </a:solidFill>
              <a:latin typeface="Times New Roman"/>
              <a:ea typeface="Times New Roman"/>
              <a:cs typeface="Times New Roman"/>
              <a:sym typeface="Times New Roman"/>
            </a:endParaRPr>
          </a:p>
          <a:p>
            <a:pPr indent="-361950" lvl="0" marL="457200" rtl="0" algn="l">
              <a:spcBef>
                <a:spcPts val="0"/>
              </a:spcBef>
              <a:spcAft>
                <a:spcPts val="0"/>
              </a:spcAft>
              <a:buClr>
                <a:schemeClr val="dk1"/>
              </a:buClr>
              <a:buSzPts val="2100"/>
              <a:buFont typeface="Times New Roman"/>
              <a:buChar char="-"/>
            </a:pPr>
            <a:r>
              <a:rPr lang="en" sz="2100">
                <a:solidFill>
                  <a:schemeClr val="dk1"/>
                </a:solidFill>
                <a:latin typeface="Times New Roman"/>
                <a:ea typeface="Times New Roman"/>
                <a:cs typeface="Times New Roman"/>
                <a:sym typeface="Times New Roman"/>
              </a:rPr>
              <a:t>By using render_template we can import request.</a:t>
            </a:r>
            <a:endParaRPr sz="2100">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sz="2100">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2100">
                <a:solidFill>
                  <a:schemeClr val="dk1"/>
                </a:solidFill>
                <a:latin typeface="Times New Roman"/>
                <a:ea typeface="Times New Roman"/>
                <a:cs typeface="Times New Roman"/>
                <a:sym typeface="Times New Roman"/>
              </a:rPr>
              <a:t>4. Application Run</a:t>
            </a:r>
            <a:endParaRPr sz="2100">
              <a:solidFill>
                <a:schemeClr val="dk1"/>
              </a:solidFill>
              <a:latin typeface="Times New Roman"/>
              <a:ea typeface="Times New Roman"/>
              <a:cs typeface="Times New Roman"/>
              <a:sym typeface="Times New Roman"/>
            </a:endParaRPr>
          </a:p>
          <a:p>
            <a:pPr indent="-361950" lvl="0" marL="457200" rtl="0" algn="l">
              <a:spcBef>
                <a:spcPts val="1200"/>
              </a:spcBef>
              <a:spcAft>
                <a:spcPts val="0"/>
              </a:spcAft>
              <a:buClr>
                <a:schemeClr val="dk1"/>
              </a:buClr>
              <a:buSzPts val="2100"/>
              <a:buFont typeface="Times New Roman"/>
              <a:buChar char="-"/>
            </a:pPr>
            <a:r>
              <a:rPr lang="en" sz="2100">
                <a:solidFill>
                  <a:schemeClr val="dk1"/>
                </a:solidFill>
                <a:latin typeface="Times New Roman"/>
                <a:ea typeface="Times New Roman"/>
                <a:cs typeface="Times New Roman"/>
                <a:sym typeface="Times New Roman"/>
              </a:rPr>
              <a:t>Application run with “ app.run(debug=True) ”</a:t>
            </a:r>
            <a:endParaRPr sz="2100">
              <a:solidFill>
                <a:schemeClr val="dk1"/>
              </a:solidFill>
              <a:latin typeface="Times New Roman"/>
              <a:ea typeface="Times New Roman"/>
              <a:cs typeface="Times New Roman"/>
              <a:sym typeface="Times New Roman"/>
            </a:endParaRPr>
          </a:p>
          <a:p>
            <a:pPr indent="-361950" lvl="0" marL="457200" rtl="0" algn="l">
              <a:spcBef>
                <a:spcPts val="0"/>
              </a:spcBef>
              <a:spcAft>
                <a:spcPts val="0"/>
              </a:spcAft>
              <a:buClr>
                <a:schemeClr val="dk1"/>
              </a:buClr>
              <a:buSzPts val="2100"/>
              <a:buFont typeface="Times New Roman"/>
              <a:buChar char="-"/>
            </a:pPr>
            <a:r>
              <a:rPr lang="en" sz="2100">
                <a:solidFill>
                  <a:schemeClr val="dk1"/>
                </a:solidFill>
                <a:latin typeface="Times New Roman"/>
                <a:ea typeface="Times New Roman"/>
                <a:cs typeface="Times New Roman"/>
                <a:sym typeface="Times New Roman"/>
              </a:rPr>
              <a:t>It runs only if it been scripted directly.</a:t>
            </a:r>
            <a:endParaRPr sz="2100">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1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COMPARISON OF MODELS</a:t>
            </a:r>
            <a:endParaRPr>
              <a:latin typeface="Times New Roman"/>
              <a:ea typeface="Times New Roman"/>
              <a:cs typeface="Times New Roman"/>
              <a:sym typeface="Times New Roman"/>
            </a:endParaRPr>
          </a:p>
        </p:txBody>
      </p:sp>
      <p:graphicFrame>
        <p:nvGraphicFramePr>
          <p:cNvPr id="195" name="Google Shape;195;p32"/>
          <p:cNvGraphicFramePr/>
          <p:nvPr/>
        </p:nvGraphicFramePr>
        <p:xfrm>
          <a:off x="562125" y="1152463"/>
          <a:ext cx="3000000" cy="3000000"/>
        </p:xfrm>
        <a:graphic>
          <a:graphicData uri="http://schemas.openxmlformats.org/drawingml/2006/table">
            <a:tbl>
              <a:tblPr>
                <a:noFill/>
                <a:tableStyleId>{83269C97-8D99-4CFB-8BD7-252D3BDA0FC0}</a:tableStyleId>
              </a:tblPr>
              <a:tblGrid>
                <a:gridCol w="1325950"/>
                <a:gridCol w="1325950"/>
                <a:gridCol w="1325950"/>
                <a:gridCol w="1325950"/>
                <a:gridCol w="1325950"/>
                <a:gridCol w="1325950"/>
              </a:tblGrid>
              <a:tr h="10634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ARIMA</a:t>
                      </a:r>
                      <a:endParaRPr>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LSTM</a:t>
                      </a:r>
                      <a:endParaRPr>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SARIMA</a:t>
                      </a:r>
                      <a:endParaRPr>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FbProphet</a:t>
                      </a:r>
                      <a:endParaRPr>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LINEAR REGRESSION</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a:txBody>
                  <a:tcPr marT="91425" marB="91425" marR="91425" marL="91425"/>
                </a:tc>
              </a:tr>
              <a:tr h="1260350">
                <a:tc>
                  <a:txBody>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RMSE</a:t>
                      </a:r>
                      <a:endParaRPr>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2.738</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7.487004</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56.9826</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28.7140</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sz="1700">
                          <a:solidFill>
                            <a:schemeClr val="dk1"/>
                          </a:solidFill>
                          <a:latin typeface="Times New Roman"/>
                          <a:ea typeface="Times New Roman"/>
                          <a:cs typeface="Times New Roman"/>
                          <a:sym typeface="Times New Roman"/>
                        </a:rPr>
                        <a:t>1125.1</a:t>
                      </a:r>
                      <a:endParaRPr sz="1700">
                        <a:solidFill>
                          <a:schemeClr val="dk1"/>
                        </a:solidFill>
                        <a:latin typeface="Times New Roman"/>
                        <a:ea typeface="Times New Roman"/>
                        <a:cs typeface="Times New Roman"/>
                        <a:sym typeface="Times New Roman"/>
                      </a:endParaRPr>
                    </a:p>
                  </a:txBody>
                  <a:tcPr marT="91425" marB="91425" marR="91425" marL="91425"/>
                </a:tc>
              </a:tr>
              <a:tr h="866475">
                <a:tc>
                  <a:txBody>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MAE</a:t>
                      </a:r>
                      <a:endParaRPr>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0.0061</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0.929932</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100"/>
                    </a:p>
                  </a:txBody>
                  <a:tcPr marT="91425" marB="91425" marR="91425" marL="91425"/>
                </a:tc>
                <a:tc>
                  <a:txBody>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43.110</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21.9828</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3"/>
          <p:cNvSpPr txBox="1"/>
          <p:nvPr>
            <p:ph idx="1" type="body"/>
          </p:nvPr>
        </p:nvSpPr>
        <p:spPr>
          <a:xfrm>
            <a:off x="131775" y="1037000"/>
            <a:ext cx="8520600" cy="2325300"/>
          </a:xfrm>
          <a:prstGeom prst="rect">
            <a:avLst/>
          </a:prstGeom>
        </p:spPr>
        <p:txBody>
          <a:bodyPr anchorCtr="0" anchor="t" bIns="91425" lIns="91425" spcFirstLastPara="1" rIns="91425" wrap="square" tIns="91425">
            <a:normAutofit/>
          </a:bodyPr>
          <a:lstStyle/>
          <a:p>
            <a:pPr indent="0" lvl="0" marL="0" rtl="0" algn="ctr">
              <a:lnSpc>
                <a:spcPct val="150000"/>
              </a:lnSpc>
              <a:spcBef>
                <a:spcPts val="0"/>
              </a:spcBef>
              <a:spcAft>
                <a:spcPts val="0"/>
              </a:spcAft>
              <a:buNone/>
            </a:pPr>
            <a:r>
              <a:t/>
            </a:r>
            <a:endParaRPr sz="5200">
              <a:solidFill>
                <a:schemeClr val="dk1"/>
              </a:solidFill>
              <a:latin typeface="Times New Roman"/>
              <a:ea typeface="Times New Roman"/>
              <a:cs typeface="Times New Roman"/>
              <a:sym typeface="Times New Roman"/>
            </a:endParaRPr>
          </a:p>
          <a:p>
            <a:pPr indent="0" lvl="0" marL="0" rtl="0" algn="ctr">
              <a:lnSpc>
                <a:spcPct val="150000"/>
              </a:lnSpc>
              <a:spcBef>
                <a:spcPts val="1200"/>
              </a:spcBef>
              <a:spcAft>
                <a:spcPts val="1200"/>
              </a:spcAft>
              <a:buNone/>
            </a:pPr>
            <a:r>
              <a:rPr lang="en" sz="5200">
                <a:solidFill>
                  <a:schemeClr val="dk1"/>
                </a:solidFill>
                <a:latin typeface="Times New Roman"/>
                <a:ea typeface="Times New Roman"/>
                <a:cs typeface="Times New Roman"/>
                <a:sym typeface="Times New Roman"/>
              </a:rPr>
              <a:t>THANK YOU</a:t>
            </a:r>
            <a:endParaRPr sz="5200">
              <a:solidFill>
                <a:schemeClr val="dk1"/>
              </a:solidFill>
              <a:latin typeface="Times New Roman"/>
              <a:ea typeface="Times New Roman"/>
              <a:cs typeface="Times New Roman"/>
              <a:sym typeface="Times New Roman"/>
            </a:endParaRPr>
          </a:p>
        </p:txBody>
      </p:sp>
      <p:sp>
        <p:nvSpPr>
          <p:cNvPr id="201" name="Google Shape;201;p3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